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b11ac7d1-a499-3ae9-51f9-82718db47e60}">
          <p14:sldIdLst>
            <p14:sldId id="256"/>
          </p14:sldIdLst>
        </p14:section>
        <p14:section name="Architecture" id="{48ca864f-35f6-941e-39a8-b0f304d6e5af}">
          <p14:sldIdLst>
            <p14:sldId id="257"/>
          </p14:sldIdLst>
        </p14:section>
        <p14:section name="Results" id="{c3f8bc11-9762-6f4b-4bd2-2a6db94c80ed}">
          <p14:sldIdLst>
            <p14:sldId id="258"/>
          </p14:sldIdLst>
        </p14:section>
        <p14:section name="Code map" id="{5eeb7e09-3146-0994-fa5d-11624ce9a64c}">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school performance and funding data is locked away in government spreadsheets, which keeps parents, teachers and officials from acting on it. Our answer is a conversational, voice-enabled system built on Google ADK and Gemini. It covers 10,323 California schools, joins six federal tables (demographics, finance, STEM, graduation, technology, staffing), uses four ADK agents, shows agent-to-agent communication over A2A twice, finds agents through an Agent Registry, and serves the database tools over MCP.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left to right. 1: the React UI records the question and Groq Whisper turns it into text. 2: the voice agent's brain, Groq gpt-oss with two tools, decides who should answer: the Google Search agent for general facts, or our school agent. 3: the school agent looks up education_root_agent in the Agent Registry, the green box, where the capstone agents registered themselves at startup, then calls it over A2A, JSON-RPC over HTTP, on port 8002. 4: the root agent transfers to the data agent, which calls the run_sql tool on our MCP server, the teal box; the MCP server runs the query read-only over 10,323 schools. 5: for why or what-works questions it calls the insights agent over a second A2A hop, which backs recommendations with correlations. 6: the answer comes back, the voice agent summarizes it for speech, and the transcript shows every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Against the brief's required steps: data found and joined; BigQuery adapted to a local SQLite database using the same SQL approach, since we had no GCP project; agents built with Google ADK, with the database tools served by an MCP server; Agent Engine deployment is the next step, and everything runs locally today; A2A shown with two hops, and agents find each other through an Agent Registry. On the right are real answers to the brief's example questions. Fresno's top grant priority is John C Martinez Elementary, at 99.8% low-income with only $183 per pupil of non-salary spending. Whitney High graduates 99% of students on below-average funding, a model worth replicating. The insights agent checked the evidence itself: across 1,323 regular high schools, class size is only weakly linked to graduation, so smaller classes alone are unlikely to move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each step from the flow slide to the code. 1 Speak: GroqVoice.jsx records with startRecording and stopRecording, and groq_transcribe in main.py calls Groq Whisper. 2 Route: groq_chat sends the conversation to Groq gpt-oss with two tools, and TOOL_HANDLERS maps the chosen tool to an agent. 3 Delegate: discover_card_url in school_agent.py asks the Agent Registry on port 8003 for education_root_agent, then ADK's RemoteA2aAgent calls it; on the capstone side, root_a2a_server.py exposes root_agent with to_a2a on port 8002, and its lifespan hook from registry.py registers it at startup. 4 Query: root_agent transfers to data_agent, whose McpToolset starts the MCP server in mcp_server/schools_mcp.py over stdio; its run_sql tool calls db.query read-only. 5 Explain: insights_agent is a RemoteA2aAgent pointing at a2a_server.py on port 8001, where the insights agent runs evidence_check. 6 Answer: groq_speak turns the reply into audio, and respond, speak and the Transcript component show and play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694944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88920"/>
            <a:ext cx="6949440" cy="8229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Education Insights &amp; Resource Recommender</a:t>
            </a:r>
            <a:endParaRPr lang="en-US" sz="10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548640"/>
            <a:ext cx="694944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AGENTS FOR IMPACT · CAPSTONE</a:t>
            </a:r>
            <a:endParaRPr lang="en-US" sz="1400" dirty="0"/>
          </a:p>
        </p:txBody>
      </p:sp>
      <p:sp>
        <p:nvSpPr>
          <p:cNvPr id="3" name="Text 0"/>
          <p:cNvSpPr/>
          <p:nvPr>
            <p:ph idx="100" type="title" hasCustomPrompt="1"/>
          </p:nvPr>
        </p:nvSpPr>
        <p:spPr>
          <a:xfrm>
            <a:off x="548640" y="1143000"/>
            <a:ext cx="6949440" cy="1554480"/>
          </a:xfrm>
          <a:prstGeom prst="rect">
            <a:avLst/>
          </a:prstGeom>
          <a:noFill/>
          <a:ln/>
        </p:spPr>
        <p:txBody>
          <a:bodyPr wrap="square" lIns="0" tIns="0" rIns="0" bIns="0" rtlCol="0" anchor="t"/>
          <a:lstStyle/>
          <a:p>
            <a:pPr algn="l" indent="0" marL="0">
              <a:buNone/>
            </a:pPr>
            <a:r>
              <a:rPr lang="en-US" sz="4000" b="1" dirty="0">
                <a:solidFill>
                  <a:schemeClr val="bg1"/>
                </a:solidFill>
              </a:rPr>
              <a:t>Education Insights &amp; Resource Recommender</a:t>
            </a:r>
            <a:endParaRPr lang="en-US" sz="4000" dirty="0"/>
          </a:p>
        </p:txBody>
      </p:sp>
      <p:sp>
        <p:nvSpPr>
          <p:cNvPr id="4" name="Text 0"/>
          <p:cNvSpPr/>
          <p:nvPr>
            <p:ph idx="101" type="body" hasCustomPrompt="1"/>
          </p:nvPr>
        </p:nvSpPr>
        <p:spPr>
          <a:xfrm>
            <a:off x="548640" y="2788920"/>
            <a:ext cx="6949440" cy="822960"/>
          </a:xfrm>
          <a:prstGeom prst="rect">
            <a:avLst/>
          </a:prstGeom>
          <a:noFill/>
          <a:ln/>
        </p:spPr>
        <p:txBody>
          <a:bodyPr wrap="square" lIns="0" tIns="0" rIns="0" bIns="0" rtlCol="0" anchor="t"/>
          <a:lstStyle/>
          <a:p>
            <a:pPr indent="0" marL="0">
              <a:buNone/>
            </a:pPr>
            <a:r>
              <a:rPr lang="en-US" sz="1800" dirty="0">
                <a:solidFill>
                  <a:schemeClr val="bg2"/>
                </a:solidFill>
              </a:rPr>
              <a:t>Voice-enabled AI agents that turn federal school data into answers</a:t>
            </a:r>
            <a:endParaRPr lang="en-US" sz="1800" dirty="0"/>
          </a:p>
        </p:txBody>
      </p:sp>
      <p:sp>
        <p:nvSpPr>
          <p:cNvPr id="5" name="Mission"/>
          <p:cNvSpPr txBox="1"/>
          <p:nvPr/>
        </p:nvSpPr>
        <p:spPr>
          <a:xfrm>
            <a:off x="548640" y="3520440"/>
            <a:ext cx="6949440" cy="457200"/>
          </a:xfrm>
          <a:prstGeom prst="rect">
            <a:avLst/>
          </a:prstGeom>
          <a:noFill/>
          <a:ln/>
        </p:spPr>
        <p:txBody>
          <a:bodyPr wrap="square" lIns="0" tIns="0" rIns="0" bIns="0" rtlCol="0" anchor="t"/>
          <a:lstStyle/>
          <a:p>
            <a:pPr indent="0" marL="0">
              <a:buNone/>
            </a:pPr>
            <a:r>
              <a:rPr lang="en-US" sz="1600" b="1" dirty="0">
                <a:solidFill>
                  <a:schemeClr val="accent2"/>
                </a:solidFill>
              </a:rPr>
              <a:t>The challenge: </a:t>
            </a:r>
            <a:pPr indent="0" marL="0">
              <a:buNone/>
            </a:pPr>
            <a:r>
              <a:rPr lang="en-US" sz="1600" dirty="0">
                <a:solidFill>
                  <a:schemeClr val="bg1"/>
                </a:solidFill>
              </a:rPr>
              <a:t>school data is locked in spreadsheets. Now anyone can ask.</a:t>
            </a:r>
            <a:endParaRPr lang="en-US" sz="1600" dirty="0"/>
          </a:p>
        </p:txBody>
      </p:sp>
      <p:sp>
        <p:nvSpPr>
          <p:cNvPr id="6" name="Tech chip 1"/>
          <p:cNvSpPr txBox="1"/>
          <p:nvPr/>
        </p:nvSpPr>
        <p:spPr>
          <a:xfrm>
            <a:off x="548640" y="4297680"/>
            <a:ext cx="1234440" cy="384048"/>
          </a:xfrm>
          <a:prstGeom prst="roundRect">
            <a:avLst>
              <a:gd name="adj" fmla="val 42857"/>
            </a:avLst>
          </a:prstGeom>
          <a:solidFill>
            <a:schemeClr val="accent1"/>
          </a:solidFill>
          <a:ln/>
        </p:spPr>
        <p:txBody>
          <a:bodyPr wrap="square" lIns="0" tIns="0" rIns="0" bIns="0" rtlCol="0" anchor="ctr"/>
          <a:lstStyle/>
          <a:p>
            <a:pPr algn="ctr" indent="0" marL="0">
              <a:buNone/>
            </a:pPr>
            <a:r>
              <a:rPr lang="en-US" sz="1400" b="1" dirty="0">
                <a:solidFill>
                  <a:schemeClr val="bg1"/>
                </a:solidFill>
              </a:rPr>
              <a:t>Google ADK</a:t>
            </a:r>
            <a:endParaRPr lang="en-US" sz="1400" dirty="0"/>
          </a:p>
        </p:txBody>
      </p:sp>
      <p:sp>
        <p:nvSpPr>
          <p:cNvPr id="7" name="Tech chip 2"/>
          <p:cNvSpPr txBox="1"/>
          <p:nvPr/>
        </p:nvSpPr>
        <p:spPr>
          <a:xfrm>
            <a:off x="1892808" y="4297680"/>
            <a:ext cx="850392" cy="384048"/>
          </a:xfrm>
          <a:prstGeom prst="roundRect">
            <a:avLst>
              <a:gd name="adj" fmla="val 42857"/>
            </a:avLst>
          </a:prstGeom>
          <a:solidFill>
            <a:schemeClr val="accent1"/>
          </a:solidFill>
          <a:ln/>
        </p:spPr>
        <p:txBody>
          <a:bodyPr wrap="square" lIns="0" tIns="0" rIns="0" bIns="0" rtlCol="0" anchor="ctr"/>
          <a:lstStyle/>
          <a:p>
            <a:pPr algn="ctr" indent="0" marL="0">
              <a:buNone/>
            </a:pPr>
            <a:r>
              <a:rPr lang="en-US" sz="1400" b="1" dirty="0">
                <a:solidFill>
                  <a:schemeClr val="bg1"/>
                </a:solidFill>
              </a:rPr>
              <a:t>Gemini</a:t>
            </a:r>
            <a:endParaRPr lang="en-US" sz="1400" dirty="0"/>
          </a:p>
        </p:txBody>
      </p:sp>
      <p:sp>
        <p:nvSpPr>
          <p:cNvPr id="8" name="Tech chip 3"/>
          <p:cNvSpPr txBox="1"/>
          <p:nvPr/>
        </p:nvSpPr>
        <p:spPr>
          <a:xfrm>
            <a:off x="2852928" y="4297680"/>
            <a:ext cx="562356" cy="384048"/>
          </a:xfrm>
          <a:prstGeom prst="roundRect">
            <a:avLst>
              <a:gd name="adj" fmla="val 42857"/>
            </a:avLst>
          </a:prstGeom>
          <a:solidFill>
            <a:schemeClr val="accent1"/>
          </a:solidFill>
          <a:ln/>
        </p:spPr>
        <p:txBody>
          <a:bodyPr wrap="square" lIns="0" tIns="0" rIns="0" bIns="0" rtlCol="0" anchor="ctr"/>
          <a:lstStyle/>
          <a:p>
            <a:pPr algn="ctr" indent="0" marL="0">
              <a:buNone/>
            </a:pPr>
            <a:r>
              <a:rPr lang="en-US" sz="1400" b="1" dirty="0">
                <a:solidFill>
                  <a:schemeClr val="bg1"/>
                </a:solidFill>
              </a:rPr>
              <a:t>A2A</a:t>
            </a:r>
            <a:endParaRPr lang="en-US" sz="1400" dirty="0"/>
          </a:p>
        </p:txBody>
      </p:sp>
      <p:sp>
        <p:nvSpPr>
          <p:cNvPr id="9" name="Tech chip 4"/>
          <p:cNvSpPr txBox="1"/>
          <p:nvPr/>
        </p:nvSpPr>
        <p:spPr>
          <a:xfrm>
            <a:off x="3525012" y="4297680"/>
            <a:ext cx="562356" cy="384048"/>
          </a:xfrm>
          <a:prstGeom prst="roundRect">
            <a:avLst>
              <a:gd name="adj" fmla="val 42857"/>
            </a:avLst>
          </a:prstGeom>
          <a:solidFill>
            <a:schemeClr val="accent1"/>
          </a:solidFill>
          <a:ln/>
        </p:spPr>
        <p:txBody>
          <a:bodyPr wrap="square" lIns="0" tIns="0" rIns="0" bIns="0" rtlCol="0" anchor="ctr"/>
          <a:lstStyle/>
          <a:p>
            <a:pPr algn="ctr" indent="0" marL="0">
              <a:buNone/>
            </a:pPr>
            <a:r>
              <a:rPr lang="en-US" sz="1400" b="1" dirty="0">
                <a:solidFill>
                  <a:schemeClr val="bg1"/>
                </a:solidFill>
              </a:rPr>
              <a:t>MCP</a:t>
            </a:r>
            <a:endParaRPr lang="en-US" sz="1400" dirty="0"/>
          </a:p>
        </p:txBody>
      </p:sp>
      <p:sp>
        <p:nvSpPr>
          <p:cNvPr id="10" name="Tech chip 5"/>
          <p:cNvSpPr txBox="1"/>
          <p:nvPr/>
        </p:nvSpPr>
        <p:spPr>
          <a:xfrm>
            <a:off x="4197096" y="4297680"/>
            <a:ext cx="1618488" cy="384048"/>
          </a:xfrm>
          <a:prstGeom prst="roundRect">
            <a:avLst>
              <a:gd name="adj" fmla="val 42857"/>
            </a:avLst>
          </a:prstGeom>
          <a:solidFill>
            <a:schemeClr val="accent1"/>
          </a:solidFill>
          <a:ln/>
        </p:spPr>
        <p:txBody>
          <a:bodyPr wrap="square" lIns="0" tIns="0" rIns="0" bIns="0" rtlCol="0" anchor="ctr"/>
          <a:lstStyle/>
          <a:p>
            <a:pPr algn="ctr" indent="0" marL="0">
              <a:buNone/>
            </a:pPr>
            <a:r>
              <a:rPr lang="en-US" sz="1400" b="1" dirty="0">
                <a:solidFill>
                  <a:schemeClr val="bg1"/>
                </a:solidFill>
              </a:rPr>
              <a:t>Agent Registry</a:t>
            </a:r>
            <a:endParaRPr lang="en-US" sz="1400" dirty="0"/>
          </a:p>
        </p:txBody>
      </p:sp>
      <p:sp>
        <p:nvSpPr>
          <p:cNvPr id="11" name="Tech chip 6"/>
          <p:cNvSpPr txBox="1"/>
          <p:nvPr/>
        </p:nvSpPr>
        <p:spPr>
          <a:xfrm>
            <a:off x="5925312" y="4297680"/>
            <a:ext cx="1234440" cy="384048"/>
          </a:xfrm>
          <a:prstGeom prst="roundRect">
            <a:avLst>
              <a:gd name="adj" fmla="val 42857"/>
            </a:avLst>
          </a:prstGeom>
          <a:solidFill>
            <a:schemeClr val="accent1"/>
          </a:solidFill>
          <a:ln/>
        </p:spPr>
        <p:txBody>
          <a:bodyPr wrap="square" lIns="0" tIns="0" rIns="0" bIns="0" rtlCol="0" anchor="ctr"/>
          <a:lstStyle/>
          <a:p>
            <a:pPr algn="ctr" indent="0" marL="0">
              <a:buNone/>
            </a:pPr>
            <a:r>
              <a:rPr lang="en-US" sz="1400" b="1" dirty="0">
                <a:solidFill>
                  <a:schemeClr val="bg1"/>
                </a:solidFill>
              </a:rPr>
              <a:t>Groq voice</a:t>
            </a:r>
            <a:endParaRPr lang="en-US" sz="1400" dirty="0"/>
          </a:p>
        </p:txBody>
      </p:sp>
      <p:sp>
        <p:nvSpPr>
          <p:cNvPr id="12" name="Presenter"/>
          <p:cNvSpPr txBox="1"/>
          <p:nvPr/>
        </p:nvSpPr>
        <p:spPr>
          <a:xfrm>
            <a:off x="548640" y="5257800"/>
            <a:ext cx="6949440" cy="822960"/>
          </a:xfrm>
          <a:prstGeom prst="rect">
            <a:avLst/>
          </a:prstGeom>
          <a:noFill/>
          <a:ln/>
        </p:spPr>
        <p:txBody>
          <a:bodyPr wrap="square" lIns="0" tIns="0" rIns="0" bIns="0" rtlCol="0" anchor="t"/>
          <a:lstStyle/>
          <a:p>
            <a:pPr indent="0" marL="0">
              <a:buNone/>
            </a:pPr>
            <a:r>
              <a:rPr lang="en-US" sz="1200" b="1" spc="200" kern="0" dirty="0">
                <a:solidFill>
                  <a:schemeClr val="accent2"/>
                </a:solidFill>
              </a:rPr>
              <a:t>PRESENTED BY</a:t>
            </a:r>
            <a:endParaRPr lang="en-US" sz="1200" dirty="0"/>
          </a:p>
          <a:p>
            <a:pPr indent="0" marL="0">
              <a:buNone/>
            </a:pPr>
            <a:r>
              <a:rPr lang="en-US" sz="2400" b="1" dirty="0">
                <a:solidFill>
                  <a:schemeClr val="bg1"/>
                </a:solidFill>
              </a:rPr>
              <a:t>Tarini Pattanaik</a:t>
            </a:r>
            <a:endParaRPr lang="en-US" sz="1200" dirty="0"/>
          </a:p>
        </p:txBody>
      </p:sp>
      <p:sp>
        <p:nvSpPr>
          <p:cNvPr id="13" name="Stat card 1"/>
          <p:cNvSpPr/>
          <p:nvPr/>
        </p:nvSpPr>
        <p:spPr>
          <a:xfrm>
            <a:off x="7891272" y="1143000"/>
            <a:ext cx="1783080" cy="1874520"/>
          </a:xfrm>
          <a:prstGeom prst="roundRect">
            <a:avLst>
              <a:gd name="adj" fmla="val 6154"/>
            </a:avLst>
          </a:prstGeom>
          <a:solidFill>
            <a:schemeClr val="bg1">
              <a:alpha val="10000"/>
            </a:schemeClr>
          </a:solidFill>
          <a:ln w="15875">
            <a:solidFill>
              <a:schemeClr val="accent1"/>
            </a:solidFill>
            <a:prstDash val="solid"/>
          </a:ln>
        </p:spPr>
      </p:sp>
      <p:sp>
        <p:nvSpPr>
          <p:cNvPr id="14" name="Stat 1"/>
          <p:cNvSpPr txBox="1"/>
          <p:nvPr/>
        </p:nvSpPr>
        <p:spPr>
          <a:xfrm>
            <a:off x="7891272" y="1417320"/>
            <a:ext cx="1783080" cy="731520"/>
          </a:xfrm>
          <a:prstGeom prst="rect">
            <a:avLst/>
          </a:prstGeom>
          <a:noFill/>
          <a:ln/>
        </p:spPr>
        <p:txBody>
          <a:bodyPr wrap="square" lIns="0" tIns="0" rIns="0" bIns="0" rtlCol="0" anchor="ctr"/>
          <a:lstStyle/>
          <a:p>
            <a:pPr algn="ctr" indent="0" marL="0">
              <a:buNone/>
            </a:pPr>
            <a:r>
              <a:rPr lang="en-US" sz="3600" b="1" dirty="0">
                <a:solidFill>
                  <a:schemeClr val="accent2"/>
                </a:solidFill>
              </a:rPr>
              <a:t>10,323</a:t>
            </a:r>
            <a:endParaRPr lang="en-US" sz="3600" dirty="0"/>
          </a:p>
        </p:txBody>
      </p:sp>
      <p:sp>
        <p:nvSpPr>
          <p:cNvPr id="15" name="Stat label 1"/>
          <p:cNvSpPr txBox="1"/>
          <p:nvPr/>
        </p:nvSpPr>
        <p:spPr>
          <a:xfrm>
            <a:off x="8028432" y="2194560"/>
            <a:ext cx="1508760" cy="640080"/>
          </a:xfrm>
          <a:prstGeom prst="rect">
            <a:avLst/>
          </a:prstGeom>
          <a:noFill/>
          <a:ln/>
        </p:spPr>
        <p:txBody>
          <a:bodyPr wrap="square" lIns="0" tIns="0" rIns="0" bIns="0" rtlCol="0" anchor="t"/>
          <a:lstStyle/>
          <a:p>
            <a:pPr algn="ctr" indent="0" marL="0">
              <a:buNone/>
            </a:pPr>
            <a:r>
              <a:rPr lang="en-US" sz="1400" dirty="0">
                <a:solidFill>
                  <a:schemeClr val="bg1"/>
                </a:solidFill>
              </a:rPr>
              <a:t>California public schools</a:t>
            </a:r>
            <a:endParaRPr lang="en-US" sz="1400" dirty="0"/>
          </a:p>
        </p:txBody>
      </p:sp>
      <p:sp>
        <p:nvSpPr>
          <p:cNvPr id="16" name="Stat card 2"/>
          <p:cNvSpPr/>
          <p:nvPr/>
        </p:nvSpPr>
        <p:spPr>
          <a:xfrm>
            <a:off x="9948672" y="1143000"/>
            <a:ext cx="1783080" cy="1874520"/>
          </a:xfrm>
          <a:prstGeom prst="roundRect">
            <a:avLst>
              <a:gd name="adj" fmla="val 6154"/>
            </a:avLst>
          </a:prstGeom>
          <a:solidFill>
            <a:schemeClr val="bg1">
              <a:alpha val="10000"/>
            </a:schemeClr>
          </a:solidFill>
          <a:ln w="15875">
            <a:solidFill>
              <a:schemeClr val="accent1"/>
            </a:solidFill>
            <a:prstDash val="solid"/>
          </a:ln>
        </p:spPr>
      </p:sp>
      <p:sp>
        <p:nvSpPr>
          <p:cNvPr id="17" name="Stat 2"/>
          <p:cNvSpPr txBox="1"/>
          <p:nvPr/>
        </p:nvSpPr>
        <p:spPr>
          <a:xfrm>
            <a:off x="9948672" y="1417320"/>
            <a:ext cx="1783080" cy="731520"/>
          </a:xfrm>
          <a:prstGeom prst="rect">
            <a:avLst/>
          </a:prstGeom>
          <a:noFill/>
          <a:ln/>
        </p:spPr>
        <p:txBody>
          <a:bodyPr wrap="square" lIns="0" tIns="0" rIns="0" bIns="0" rtlCol="0" anchor="ctr"/>
          <a:lstStyle/>
          <a:p>
            <a:pPr algn="ctr" indent="0" marL="0">
              <a:buNone/>
            </a:pPr>
            <a:r>
              <a:rPr lang="en-US" sz="3600" b="1" dirty="0">
                <a:solidFill>
                  <a:schemeClr val="accent2"/>
                </a:solidFill>
              </a:rPr>
              <a:t>6</a:t>
            </a:r>
            <a:endParaRPr lang="en-US" sz="3600" dirty="0"/>
          </a:p>
        </p:txBody>
      </p:sp>
      <p:sp>
        <p:nvSpPr>
          <p:cNvPr id="18" name="Stat label 2"/>
          <p:cNvSpPr txBox="1"/>
          <p:nvPr/>
        </p:nvSpPr>
        <p:spPr>
          <a:xfrm>
            <a:off x="10085832" y="2194560"/>
            <a:ext cx="1508760" cy="640080"/>
          </a:xfrm>
          <a:prstGeom prst="rect">
            <a:avLst/>
          </a:prstGeom>
          <a:noFill/>
          <a:ln/>
        </p:spPr>
        <p:txBody>
          <a:bodyPr wrap="square" lIns="0" tIns="0" rIns="0" bIns="0" rtlCol="0" anchor="t"/>
          <a:lstStyle/>
          <a:p>
            <a:pPr algn="ctr" indent="0" marL="0">
              <a:buNone/>
            </a:pPr>
            <a:r>
              <a:rPr lang="en-US" sz="1400" dirty="0">
                <a:solidFill>
                  <a:schemeClr val="bg1"/>
                </a:solidFill>
              </a:rPr>
              <a:t>federal data tables joined</a:t>
            </a:r>
            <a:endParaRPr lang="en-US" sz="1400" dirty="0"/>
          </a:p>
        </p:txBody>
      </p:sp>
      <p:sp>
        <p:nvSpPr>
          <p:cNvPr id="19" name="Stat card 3"/>
          <p:cNvSpPr/>
          <p:nvPr/>
        </p:nvSpPr>
        <p:spPr>
          <a:xfrm>
            <a:off x="7891272" y="3291840"/>
            <a:ext cx="1783080" cy="1874520"/>
          </a:xfrm>
          <a:prstGeom prst="roundRect">
            <a:avLst>
              <a:gd name="adj" fmla="val 6154"/>
            </a:avLst>
          </a:prstGeom>
          <a:solidFill>
            <a:schemeClr val="bg1">
              <a:alpha val="10000"/>
            </a:schemeClr>
          </a:solidFill>
          <a:ln w="15875">
            <a:solidFill>
              <a:schemeClr val="accent1"/>
            </a:solidFill>
            <a:prstDash val="solid"/>
          </a:ln>
        </p:spPr>
      </p:sp>
      <p:sp>
        <p:nvSpPr>
          <p:cNvPr id="20" name="Stat 3"/>
          <p:cNvSpPr txBox="1"/>
          <p:nvPr/>
        </p:nvSpPr>
        <p:spPr>
          <a:xfrm>
            <a:off x="7891272" y="3566160"/>
            <a:ext cx="1783080" cy="731520"/>
          </a:xfrm>
          <a:prstGeom prst="rect">
            <a:avLst/>
          </a:prstGeom>
          <a:noFill/>
          <a:ln/>
        </p:spPr>
        <p:txBody>
          <a:bodyPr wrap="square" lIns="0" tIns="0" rIns="0" bIns="0" rtlCol="0" anchor="ctr"/>
          <a:lstStyle/>
          <a:p>
            <a:pPr algn="ctr" indent="0" marL="0">
              <a:buNone/>
            </a:pPr>
            <a:r>
              <a:rPr lang="en-US" sz="3600" b="1" dirty="0">
                <a:solidFill>
                  <a:schemeClr val="accent2"/>
                </a:solidFill>
              </a:rPr>
              <a:t>4</a:t>
            </a:r>
            <a:endParaRPr lang="en-US" sz="3600" dirty="0"/>
          </a:p>
        </p:txBody>
      </p:sp>
      <p:sp>
        <p:nvSpPr>
          <p:cNvPr id="21" name="Stat label 3"/>
          <p:cNvSpPr txBox="1"/>
          <p:nvPr/>
        </p:nvSpPr>
        <p:spPr>
          <a:xfrm>
            <a:off x="8028432" y="4343400"/>
            <a:ext cx="1508760" cy="640080"/>
          </a:xfrm>
          <a:prstGeom prst="rect">
            <a:avLst/>
          </a:prstGeom>
          <a:noFill/>
          <a:ln/>
        </p:spPr>
        <p:txBody>
          <a:bodyPr wrap="square" lIns="0" tIns="0" rIns="0" bIns="0" rtlCol="0" anchor="t"/>
          <a:lstStyle/>
          <a:p>
            <a:pPr algn="ctr" indent="0" marL="0">
              <a:buNone/>
            </a:pPr>
            <a:r>
              <a:rPr lang="en-US" sz="1400" dirty="0">
                <a:solidFill>
                  <a:schemeClr val="bg1"/>
                </a:solidFill>
              </a:rPr>
              <a:t>Google ADK agents</a:t>
            </a:r>
            <a:endParaRPr lang="en-US" sz="1400" dirty="0"/>
          </a:p>
        </p:txBody>
      </p:sp>
      <p:sp>
        <p:nvSpPr>
          <p:cNvPr id="22" name="Stat card 4"/>
          <p:cNvSpPr/>
          <p:nvPr/>
        </p:nvSpPr>
        <p:spPr>
          <a:xfrm>
            <a:off x="9948672" y="3291840"/>
            <a:ext cx="1783080" cy="1874520"/>
          </a:xfrm>
          <a:prstGeom prst="roundRect">
            <a:avLst>
              <a:gd name="adj" fmla="val 6154"/>
            </a:avLst>
          </a:prstGeom>
          <a:solidFill>
            <a:schemeClr val="bg1">
              <a:alpha val="10000"/>
            </a:schemeClr>
          </a:solidFill>
          <a:ln w="15875">
            <a:solidFill>
              <a:schemeClr val="accent1"/>
            </a:solidFill>
            <a:prstDash val="solid"/>
          </a:ln>
        </p:spPr>
      </p:sp>
      <p:sp>
        <p:nvSpPr>
          <p:cNvPr id="23" name="Stat 4"/>
          <p:cNvSpPr txBox="1"/>
          <p:nvPr/>
        </p:nvSpPr>
        <p:spPr>
          <a:xfrm>
            <a:off x="9948672" y="3566160"/>
            <a:ext cx="1783080" cy="731520"/>
          </a:xfrm>
          <a:prstGeom prst="rect">
            <a:avLst/>
          </a:prstGeom>
          <a:noFill/>
          <a:ln/>
        </p:spPr>
        <p:txBody>
          <a:bodyPr wrap="square" lIns="0" tIns="0" rIns="0" bIns="0" rtlCol="0" anchor="ctr"/>
          <a:lstStyle/>
          <a:p>
            <a:pPr algn="ctr" indent="0" marL="0">
              <a:buNone/>
            </a:pPr>
            <a:r>
              <a:rPr lang="en-US" sz="3600" b="1" dirty="0">
                <a:solidFill>
                  <a:schemeClr val="accent2"/>
                </a:solidFill>
              </a:rPr>
              <a:t>2</a:t>
            </a:r>
            <a:endParaRPr lang="en-US" sz="3600" dirty="0"/>
          </a:p>
        </p:txBody>
      </p:sp>
      <p:sp>
        <p:nvSpPr>
          <p:cNvPr id="24" name="Stat label 4"/>
          <p:cNvSpPr txBox="1"/>
          <p:nvPr/>
        </p:nvSpPr>
        <p:spPr>
          <a:xfrm>
            <a:off x="10085832" y="4343400"/>
            <a:ext cx="1508760" cy="640080"/>
          </a:xfrm>
          <a:prstGeom prst="rect">
            <a:avLst/>
          </a:prstGeom>
          <a:noFill/>
          <a:ln/>
        </p:spPr>
        <p:txBody>
          <a:bodyPr wrap="square" lIns="0" tIns="0" rIns="0" bIns="0" rtlCol="0" anchor="t"/>
          <a:lstStyle/>
          <a:p>
            <a:pPr algn="ctr" indent="0" marL="0">
              <a:buNone/>
            </a:pPr>
            <a:r>
              <a:rPr lang="en-US" sz="1400" dirty="0">
                <a:solidFill>
                  <a:schemeClr val="bg1"/>
                </a:solidFill>
              </a:rPr>
              <a:t>A2A hops between agents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End-to-end flow: spoken question to data-backed answer</a:t>
            </a:r>
            <a:endParaRPr lang="en-US" sz="3200" dirty="0"/>
          </a:p>
        </p:txBody>
      </p:sp>
      <p:sp>
        <p:nvSpPr>
          <p:cNvPr id="3" name="Voice group"/>
          <p:cNvSpPr/>
          <p:nvPr/>
        </p:nvSpPr>
        <p:spPr>
          <a:xfrm>
            <a:off x="548640" y="1234440"/>
            <a:ext cx="4846320" cy="3017520"/>
          </a:xfrm>
          <a:prstGeom prst="roundRect">
            <a:avLst>
              <a:gd name="adj" fmla="val 3636"/>
            </a:avLst>
          </a:prstGeom>
          <a:solidFill>
            <a:schemeClr val="bg1"/>
          </a:solidFill>
          <a:ln w="12700">
            <a:solidFill>
              <a:schemeClr val="accent5"/>
            </a:solidFill>
            <a:prstDash val="dash"/>
          </a:ln>
        </p:spPr>
      </p:sp>
      <p:sp>
        <p:nvSpPr>
          <p:cNvPr id="4" name="Voice group label"/>
          <p:cNvSpPr txBox="1"/>
          <p:nvPr/>
        </p:nvSpPr>
        <p:spPr>
          <a:xfrm>
            <a:off x="731520" y="1325880"/>
            <a:ext cx="4480560" cy="274320"/>
          </a:xfrm>
          <a:prstGeom prst="rect">
            <a:avLst/>
          </a:prstGeom>
          <a:noFill/>
          <a:ln/>
        </p:spPr>
        <p:txBody>
          <a:bodyPr wrap="square" lIns="0" tIns="0" rIns="0" bIns="0" rtlCol="0" anchor="ctr"/>
          <a:lstStyle/>
          <a:p>
            <a:pPr indent="0" marL="0">
              <a:buNone/>
            </a:pPr>
            <a:r>
              <a:rPr lang="en-US" sz="1200" b="1" dirty="0">
                <a:solidFill>
                  <a:schemeClr val="tx2"/>
                </a:solidFill>
              </a:rPr>
              <a:t>VOICE AGENT · voice-agent-adk-a2a</a:t>
            </a:r>
            <a:endParaRPr lang="en-US" sz="1200" dirty="0"/>
          </a:p>
        </p:txBody>
      </p:sp>
      <p:sp>
        <p:nvSpPr>
          <p:cNvPr id="5" name="Capstone group"/>
          <p:cNvSpPr/>
          <p:nvPr/>
        </p:nvSpPr>
        <p:spPr>
          <a:xfrm>
            <a:off x="6309360" y="1234440"/>
            <a:ext cx="5330952" cy="3017520"/>
          </a:xfrm>
          <a:prstGeom prst="roundRect">
            <a:avLst>
              <a:gd name="adj" fmla="val 3636"/>
            </a:avLst>
          </a:prstGeom>
          <a:solidFill>
            <a:schemeClr val="bg1"/>
          </a:solidFill>
          <a:ln w="12700">
            <a:solidFill>
              <a:schemeClr val="accent5"/>
            </a:solidFill>
            <a:prstDash val="dash"/>
          </a:ln>
        </p:spPr>
      </p:sp>
      <p:sp>
        <p:nvSpPr>
          <p:cNvPr id="6" name="Capstone group label"/>
          <p:cNvSpPr txBox="1"/>
          <p:nvPr/>
        </p:nvSpPr>
        <p:spPr>
          <a:xfrm>
            <a:off x="6492240" y="1325880"/>
            <a:ext cx="4965192" cy="274320"/>
          </a:xfrm>
          <a:prstGeom prst="rect">
            <a:avLst/>
          </a:prstGeom>
          <a:noFill/>
          <a:ln/>
        </p:spPr>
        <p:txBody>
          <a:bodyPr wrap="square" lIns="0" tIns="0" rIns="0" bIns="0" rtlCol="0" anchor="ctr"/>
          <a:lstStyle/>
          <a:p>
            <a:pPr indent="0" marL="0">
              <a:buNone/>
            </a:pPr>
            <a:r>
              <a:rPr lang="en-US" sz="1200" b="1" dirty="0">
                <a:solidFill>
                  <a:schemeClr val="tx2"/>
                </a:solidFill>
              </a:rPr>
              <a:t>CAPSTONE · adk-a2a-mcp-education-capstone</a:t>
            </a:r>
            <a:endParaRPr lang="en-US" sz="1200" dirty="0"/>
          </a:p>
        </p:txBody>
      </p:sp>
      <p:sp>
        <p:nvSpPr>
          <p:cNvPr id="7" name="React UI"/>
          <p:cNvSpPr txBox="1"/>
          <p:nvPr/>
        </p:nvSpPr>
        <p:spPr>
          <a:xfrm>
            <a:off x="731520" y="1691640"/>
            <a:ext cx="1463040" cy="777240"/>
          </a:xfrm>
          <a:prstGeom prst="roundRect">
            <a:avLst>
              <a:gd name="adj" fmla="val 9412"/>
            </a:avLst>
          </a:prstGeom>
          <a:solidFill>
            <a:schemeClr val="bg1"/>
          </a:solidFill>
          <a:ln w="12700">
            <a:solidFill>
              <a:schemeClr val="accent5"/>
            </a:solidFill>
          </a:ln>
        </p:spPr>
        <p:txBody>
          <a:bodyPr wrap="square" lIns="508" tIns="508" rIns="508" bIns="508" rtlCol="0" anchor="ctr"/>
          <a:lstStyle/>
          <a:p>
            <a:pPr algn="ctr" indent="0" marL="0">
              <a:buNone/>
            </a:pPr>
            <a:r>
              <a:rPr lang="en-US" sz="1400" b="1" dirty="0">
                <a:solidFill>
                  <a:schemeClr val="tx1"/>
                </a:solidFill>
              </a:rPr>
              <a:t>React UI</a:t>
            </a:r>
            <a:endParaRPr lang="en-US" sz="1400" dirty="0"/>
          </a:p>
          <a:p>
            <a:pPr algn="ctr" indent="0" marL="0">
              <a:buNone/>
            </a:pPr>
            <a:r>
              <a:rPr lang="en-US" sz="1200" dirty="0">
                <a:solidFill>
                  <a:schemeClr val="tx2"/>
                </a:solidFill>
              </a:rPr>
              <a:t>mic + speaker</a:t>
            </a:r>
            <a:endParaRPr lang="en-US" sz="1400" dirty="0"/>
          </a:p>
        </p:txBody>
      </p:sp>
      <p:sp>
        <p:nvSpPr>
          <p:cNvPr id="8" name="Voice brain"/>
          <p:cNvSpPr txBox="1"/>
          <p:nvPr/>
        </p:nvSpPr>
        <p:spPr>
          <a:xfrm>
            <a:off x="2514600" y="1691640"/>
            <a:ext cx="2697480" cy="777240"/>
          </a:xfrm>
          <a:prstGeom prst="roundRect">
            <a:avLst>
              <a:gd name="adj" fmla="val 9412"/>
            </a:avLst>
          </a:prstGeom>
          <a:solidFill>
            <a:schemeClr val="bg1"/>
          </a:solidFill>
          <a:ln w="12700">
            <a:solidFill>
              <a:schemeClr val="accent5"/>
            </a:solidFill>
          </a:ln>
        </p:spPr>
        <p:txBody>
          <a:bodyPr wrap="square" lIns="508" tIns="508" rIns="508" bIns="508" rtlCol="0" anchor="ctr"/>
          <a:lstStyle/>
          <a:p>
            <a:pPr algn="ctr" indent="0" marL="0">
              <a:buNone/>
            </a:pPr>
            <a:r>
              <a:rPr lang="en-US" sz="1400" b="1" dirty="0">
                <a:solidFill>
                  <a:schemeClr val="tx1"/>
                </a:solidFill>
              </a:rPr>
              <a:t>Voice agent brain</a:t>
            </a:r>
            <a:endParaRPr lang="en-US" sz="1400" dirty="0"/>
          </a:p>
          <a:p>
            <a:pPr algn="ctr" indent="0" marL="0">
              <a:buNone/>
            </a:pPr>
            <a:r>
              <a:rPr lang="en-US" sz="1200" dirty="0">
                <a:solidFill>
                  <a:schemeClr val="tx2"/>
                </a:solidFill>
              </a:rPr>
              <a:t>FastAPI · Groq gpt-oss + 2 tools</a:t>
            </a:r>
            <a:endParaRPr lang="en-US" sz="1400" dirty="0"/>
          </a:p>
        </p:txBody>
      </p:sp>
      <p:sp>
        <p:nvSpPr>
          <p:cNvPr id="9" name="Groq cloud"/>
          <p:cNvSpPr txBox="1"/>
          <p:nvPr/>
        </p:nvSpPr>
        <p:spPr>
          <a:xfrm>
            <a:off x="731520" y="3246120"/>
            <a:ext cx="1463040" cy="822960"/>
          </a:xfrm>
          <a:prstGeom prst="roundRect">
            <a:avLst>
              <a:gd name="adj" fmla="val 8889"/>
            </a:avLst>
          </a:prstGeom>
          <a:solidFill>
            <a:schemeClr val="accent3">
              <a:alpha val="12000"/>
            </a:schemeClr>
          </a:solidFill>
          <a:ln w="12700">
            <a:solidFill>
              <a:schemeClr val="accent3"/>
            </a:solidFill>
          </a:ln>
        </p:spPr>
        <p:txBody>
          <a:bodyPr wrap="square" lIns="508" tIns="508" rIns="508" bIns="508" rtlCol="0" anchor="ctr"/>
          <a:lstStyle/>
          <a:p>
            <a:pPr algn="ctr" indent="0" marL="0">
              <a:buNone/>
            </a:pPr>
            <a:r>
              <a:rPr lang="en-US" sz="1400" b="1" dirty="0">
                <a:solidFill>
                  <a:schemeClr val="tx1"/>
                </a:solidFill>
              </a:rPr>
              <a:t>Groq cloud</a:t>
            </a:r>
            <a:endParaRPr lang="en-US" sz="1400" dirty="0"/>
          </a:p>
          <a:p>
            <a:pPr algn="ctr" indent="0" marL="0">
              <a:buNone/>
            </a:pPr>
            <a:r>
              <a:rPr lang="en-US" sz="1200" dirty="0">
                <a:solidFill>
                  <a:schemeClr val="tx2"/>
                </a:solidFill>
              </a:rPr>
              <a:t>Whisper · Orpheus</a:t>
            </a:r>
            <a:endParaRPr lang="en-US" sz="1400" dirty="0"/>
          </a:p>
        </p:txBody>
      </p:sp>
      <p:sp>
        <p:nvSpPr>
          <p:cNvPr id="10" name="Search agent"/>
          <p:cNvSpPr txBox="1"/>
          <p:nvPr/>
        </p:nvSpPr>
        <p:spPr>
          <a:xfrm>
            <a:off x="2514600" y="3246120"/>
            <a:ext cx="1280160" cy="822960"/>
          </a:xfrm>
          <a:prstGeom prst="roundRect">
            <a:avLst>
              <a:gd name="adj" fmla="val 8889"/>
            </a:avLst>
          </a:prstGeom>
          <a:solidFill>
            <a:schemeClr val="bg1"/>
          </a:solidFill>
          <a:ln w="12700">
            <a:solidFill>
              <a:schemeClr val="accent5"/>
            </a:solidFill>
          </a:ln>
        </p:spPr>
        <p:txBody>
          <a:bodyPr wrap="square" lIns="508" tIns="508" rIns="508" bIns="508" rtlCol="0" anchor="ctr"/>
          <a:lstStyle/>
          <a:p>
            <a:pPr algn="ctr" indent="0" marL="0">
              <a:buNone/>
            </a:pPr>
            <a:r>
              <a:rPr lang="en-US" sz="1400" b="1" dirty="0">
                <a:solidFill>
                  <a:schemeClr val="tx1"/>
                </a:solidFill>
              </a:rPr>
              <a:t>Search agent</a:t>
            </a:r>
            <a:endParaRPr lang="en-US" sz="1400" dirty="0"/>
          </a:p>
          <a:p>
            <a:pPr algn="ctr" indent="0" marL="0">
              <a:buNone/>
            </a:pPr>
            <a:r>
              <a:rPr lang="en-US" sz="1200" dirty="0">
                <a:solidFill>
                  <a:schemeClr val="tx2"/>
                </a:solidFill>
              </a:rPr>
              <a:t>ADK + Google</a:t>
            </a:r>
            <a:endParaRPr lang="en-US" sz="1400" dirty="0"/>
          </a:p>
        </p:txBody>
      </p:sp>
      <p:sp>
        <p:nvSpPr>
          <p:cNvPr id="11" name="School agent"/>
          <p:cNvSpPr txBox="1"/>
          <p:nvPr/>
        </p:nvSpPr>
        <p:spPr>
          <a:xfrm>
            <a:off x="3931920" y="3246120"/>
            <a:ext cx="1280160" cy="822960"/>
          </a:xfrm>
          <a:prstGeom prst="roundRect">
            <a:avLst>
              <a:gd name="adj" fmla="val 8889"/>
            </a:avLst>
          </a:prstGeom>
          <a:solidFill>
            <a:schemeClr val="bg2"/>
          </a:solidFill>
          <a:ln w="15875">
            <a:solidFill>
              <a:schemeClr val="accent1"/>
            </a:solidFill>
          </a:ln>
        </p:spPr>
        <p:txBody>
          <a:bodyPr wrap="square" lIns="508" tIns="508" rIns="508" bIns="508" rtlCol="0" anchor="ctr"/>
          <a:lstStyle/>
          <a:p>
            <a:pPr algn="ctr" indent="0" marL="0">
              <a:buNone/>
            </a:pPr>
            <a:r>
              <a:rPr lang="en-US" sz="1400" b="1" dirty="0">
                <a:solidFill>
                  <a:schemeClr val="tx1"/>
                </a:solidFill>
              </a:rPr>
              <a:t>School agent</a:t>
            </a:r>
            <a:endParaRPr lang="en-US" sz="1400" dirty="0"/>
          </a:p>
          <a:p>
            <a:pPr algn="ctr" indent="0" marL="0">
              <a:buNone/>
            </a:pPr>
            <a:r>
              <a:rPr lang="en-US" sz="1200" dirty="0">
                <a:solidFill>
                  <a:schemeClr val="tx2"/>
                </a:solidFill>
              </a:rPr>
              <a:t>A2A client</a:t>
            </a:r>
            <a:endParaRPr lang="en-US" sz="1400" dirty="0"/>
          </a:p>
        </p:txBody>
      </p:sp>
      <p:sp>
        <p:nvSpPr>
          <p:cNvPr id="12" name="Root agent"/>
          <p:cNvSpPr txBox="1"/>
          <p:nvPr/>
        </p:nvSpPr>
        <p:spPr>
          <a:xfrm>
            <a:off x="6492240" y="3246120"/>
            <a:ext cx="1325880" cy="822960"/>
          </a:xfrm>
          <a:prstGeom prst="roundRect">
            <a:avLst>
              <a:gd name="adj" fmla="val 8889"/>
            </a:avLst>
          </a:prstGeom>
          <a:solidFill>
            <a:schemeClr val="bg2"/>
          </a:solidFill>
          <a:ln w="15875">
            <a:solidFill>
              <a:schemeClr val="accent1"/>
            </a:solidFill>
          </a:ln>
        </p:spPr>
        <p:txBody>
          <a:bodyPr wrap="square" lIns="508" tIns="508" rIns="508" bIns="508" rtlCol="0" anchor="ctr"/>
          <a:lstStyle/>
          <a:p>
            <a:pPr algn="ctr" indent="0" marL="0">
              <a:buNone/>
            </a:pPr>
            <a:r>
              <a:rPr lang="en-US" sz="1400" b="1" dirty="0">
                <a:solidFill>
                  <a:schemeClr val="tx1"/>
                </a:solidFill>
              </a:rPr>
              <a:t>Root agent</a:t>
            </a:r>
            <a:endParaRPr lang="en-US" sz="1400" dirty="0"/>
          </a:p>
          <a:p>
            <a:pPr algn="ctr" indent="0" marL="0">
              <a:buNone/>
            </a:pPr>
            <a:r>
              <a:rPr lang="en-US" sz="1200" dirty="0">
                <a:solidFill>
                  <a:schemeClr val="tx2"/>
                </a:solidFill>
              </a:rPr>
              <a:t>A2A :8002</a:t>
            </a:r>
            <a:endParaRPr lang="en-US" sz="1400" dirty="0"/>
          </a:p>
        </p:txBody>
      </p:sp>
      <p:sp>
        <p:nvSpPr>
          <p:cNvPr id="13" name="Data agent"/>
          <p:cNvSpPr txBox="1"/>
          <p:nvPr/>
        </p:nvSpPr>
        <p:spPr>
          <a:xfrm>
            <a:off x="6492240" y="1691640"/>
            <a:ext cx="1325880" cy="777240"/>
          </a:xfrm>
          <a:prstGeom prst="roundRect">
            <a:avLst>
              <a:gd name="adj" fmla="val 9412"/>
            </a:avLst>
          </a:prstGeom>
          <a:solidFill>
            <a:schemeClr val="bg1"/>
          </a:solidFill>
          <a:ln w="12700">
            <a:solidFill>
              <a:schemeClr val="accent5"/>
            </a:solidFill>
          </a:ln>
        </p:spPr>
        <p:txBody>
          <a:bodyPr wrap="square" lIns="508" tIns="508" rIns="508" bIns="508" rtlCol="0" anchor="ctr"/>
          <a:lstStyle/>
          <a:p>
            <a:pPr algn="ctr" indent="0" marL="0">
              <a:buNone/>
            </a:pPr>
            <a:r>
              <a:rPr lang="en-US" sz="1400" b="1" dirty="0">
                <a:solidFill>
                  <a:schemeClr val="tx1"/>
                </a:solidFill>
              </a:rPr>
              <a:t>Data agent</a:t>
            </a:r>
            <a:endParaRPr lang="en-US" sz="1400" dirty="0"/>
          </a:p>
          <a:p>
            <a:pPr algn="ctr" indent="0" marL="0">
              <a:buNone/>
            </a:pPr>
            <a:r>
              <a:rPr lang="en-US" sz="1200" dirty="0">
                <a:solidFill>
                  <a:schemeClr val="tx2"/>
                </a:solidFill>
              </a:rPr>
              <a:t>McpToolset</a:t>
            </a:r>
            <a:endParaRPr lang="en-US" sz="1400" dirty="0"/>
          </a:p>
        </p:txBody>
      </p:sp>
      <p:sp>
        <p:nvSpPr>
          <p:cNvPr id="14" name="MCP server"/>
          <p:cNvSpPr txBox="1"/>
          <p:nvPr/>
        </p:nvSpPr>
        <p:spPr>
          <a:xfrm>
            <a:off x="8595360" y="1691640"/>
            <a:ext cx="1508760" cy="777240"/>
          </a:xfrm>
          <a:prstGeom prst="roundRect">
            <a:avLst>
              <a:gd name="adj" fmla="val 9412"/>
            </a:avLst>
          </a:prstGeom>
          <a:solidFill>
            <a:schemeClr val="accent6">
              <a:alpha val="15000"/>
            </a:schemeClr>
          </a:solidFill>
          <a:ln w="15875">
            <a:solidFill>
              <a:schemeClr val="accent6"/>
            </a:solidFill>
          </a:ln>
        </p:spPr>
        <p:txBody>
          <a:bodyPr wrap="square" lIns="508" tIns="508" rIns="508" bIns="508" rtlCol="0" anchor="ctr"/>
          <a:lstStyle/>
          <a:p>
            <a:pPr algn="ctr" indent="0" marL="0">
              <a:buNone/>
            </a:pPr>
            <a:r>
              <a:rPr lang="en-US" sz="1400" b="1" dirty="0">
                <a:solidFill>
                  <a:schemeClr val="tx1"/>
                </a:solidFill>
              </a:rPr>
              <a:t>MCP server</a:t>
            </a:r>
            <a:endParaRPr lang="en-US" sz="1400" dirty="0"/>
          </a:p>
          <a:p>
            <a:pPr algn="ctr" indent="0" marL="0">
              <a:buNone/>
            </a:pPr>
            <a:r>
              <a:rPr lang="en-US" sz="1200" dirty="0">
                <a:solidFill>
                  <a:schemeClr val="tx2"/>
                </a:solidFill>
              </a:rPr>
              <a:t>get_schema · run_sql</a:t>
            </a:r>
            <a:endParaRPr lang="en-US" sz="1400" dirty="0"/>
          </a:p>
        </p:txBody>
      </p:sp>
      <p:sp>
        <p:nvSpPr>
          <p:cNvPr id="15" name="Insights agent"/>
          <p:cNvSpPr txBox="1"/>
          <p:nvPr/>
        </p:nvSpPr>
        <p:spPr>
          <a:xfrm>
            <a:off x="8595360" y="3246120"/>
            <a:ext cx="1508760" cy="822960"/>
          </a:xfrm>
          <a:prstGeom prst="roundRect">
            <a:avLst>
              <a:gd name="adj" fmla="val 8889"/>
            </a:avLst>
          </a:prstGeom>
          <a:solidFill>
            <a:schemeClr val="bg2"/>
          </a:solidFill>
          <a:ln w="15875">
            <a:solidFill>
              <a:schemeClr val="accent1"/>
            </a:solidFill>
          </a:ln>
        </p:spPr>
        <p:txBody>
          <a:bodyPr wrap="square" lIns="508" tIns="508" rIns="508" bIns="508" rtlCol="0" anchor="ctr"/>
          <a:lstStyle/>
          <a:p>
            <a:pPr algn="ctr" indent="0" marL="0">
              <a:buNone/>
            </a:pPr>
            <a:r>
              <a:rPr lang="en-US" sz="1400" b="1" dirty="0">
                <a:solidFill>
                  <a:schemeClr val="tx1"/>
                </a:solidFill>
              </a:rPr>
              <a:t>Insights agent</a:t>
            </a:r>
            <a:endParaRPr lang="en-US" sz="1400" dirty="0"/>
          </a:p>
          <a:p>
            <a:pPr algn="ctr" indent="0" marL="0">
              <a:buNone/>
            </a:pPr>
            <a:r>
              <a:rPr lang="en-US" sz="1200" dirty="0">
                <a:solidFill>
                  <a:schemeClr val="tx2"/>
                </a:solidFill>
              </a:rPr>
              <a:t>A2A :8001</a:t>
            </a:r>
            <a:endParaRPr lang="en-US" sz="1400" dirty="0"/>
          </a:p>
        </p:txBody>
      </p:sp>
      <p:sp>
        <p:nvSpPr>
          <p:cNvPr id="16" name="Database"/>
          <p:cNvSpPr txBox="1"/>
          <p:nvPr/>
        </p:nvSpPr>
        <p:spPr>
          <a:xfrm>
            <a:off x="10424160" y="2103120"/>
            <a:ext cx="1051560" cy="1463040"/>
          </a:xfrm>
          <a:prstGeom prst="can">
            <a:avLst/>
          </a:prstGeom>
          <a:solidFill>
            <a:schemeClr val="accent2">
              <a:alpha val="25000"/>
            </a:schemeClr>
          </a:solidFill>
          <a:ln w="12700">
            <a:solidFill>
              <a:schemeClr val="accent2"/>
            </a:solidFill>
          </a:ln>
        </p:spPr>
        <p:txBody>
          <a:bodyPr wrap="square" lIns="254" tIns="254" rIns="254" bIns="254" rtlCol="0" anchor="ctr"/>
          <a:lstStyle/>
          <a:p>
            <a:pPr algn="ctr" indent="0" marL="0">
              <a:buNone/>
            </a:pPr>
            <a:r>
              <a:rPr lang="en-US" sz="1400" b="1" dirty="0">
                <a:solidFill>
                  <a:schemeClr val="tx1"/>
                </a:solidFill>
              </a:rPr>
              <a:t>schools.db</a:t>
            </a:r>
            <a:endParaRPr lang="en-US" sz="1400" dirty="0"/>
          </a:p>
          <a:p>
            <a:pPr algn="ctr" indent="0" marL="0">
              <a:buNone/>
            </a:pPr>
            <a:r>
              <a:rPr lang="en-US" sz="1200" dirty="0">
                <a:solidFill>
                  <a:schemeClr val="tx2"/>
                </a:solidFill>
              </a:rPr>
              <a:t>10,323 schools</a:t>
            </a:r>
            <a:endParaRPr lang="en-US" sz="1400" dirty="0"/>
          </a:p>
        </p:txBody>
      </p:sp>
      <p:sp>
        <p:nvSpPr>
          <p:cNvPr id="17" name="Agent Registry"/>
          <p:cNvSpPr txBox="1"/>
          <p:nvPr/>
        </p:nvSpPr>
        <p:spPr>
          <a:xfrm>
            <a:off x="4846320" y="4370832"/>
            <a:ext cx="2011680" cy="347472"/>
          </a:xfrm>
          <a:prstGeom prst="roundRect">
            <a:avLst>
              <a:gd name="adj" fmla="val 21053"/>
            </a:avLst>
          </a:prstGeom>
          <a:solidFill>
            <a:schemeClr val="accent4">
              <a:alpha val="15000"/>
            </a:schemeClr>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Agent Registry · :8003</a:t>
            </a:r>
            <a:endParaRPr lang="en-US" sz="1200" dirty="0"/>
          </a:p>
        </p:txBody>
      </p:sp>
      <p:sp>
        <p:nvSpPr>
          <p:cNvPr id="18" name="UI to brain"/>
          <p:cNvSpPr/>
          <p:nvPr/>
        </p:nvSpPr>
        <p:spPr>
          <a:xfrm>
            <a:off x="2194560" y="2080260"/>
            <a:ext cx="320040" cy="0"/>
          </a:xfrm>
          <a:prstGeom prst="line">
            <a:avLst/>
          </a:prstGeom>
          <a:noFill/>
          <a:ln w="15875">
            <a:solidFill>
              <a:schemeClr val="tx2"/>
            </a:solidFill>
            <a:prstDash val="solid"/>
            <a:tailEnd type="triangle"/>
          </a:ln>
        </p:spPr>
      </p:sp>
      <p:sp>
        <p:nvSpPr>
          <p:cNvPr id="19" name="Brain to Groq"/>
          <p:cNvSpPr/>
          <p:nvPr/>
        </p:nvSpPr>
        <p:spPr>
          <a:xfrm flipH="1">
            <a:off x="2194560" y="2468880"/>
            <a:ext cx="320040" cy="777240"/>
          </a:xfrm>
          <a:prstGeom prst="line">
            <a:avLst/>
          </a:prstGeom>
          <a:noFill/>
          <a:ln w="15875">
            <a:solidFill>
              <a:schemeClr val="tx2"/>
            </a:solidFill>
            <a:prstDash val="dash"/>
            <a:tailEnd type="triangle"/>
          </a:ln>
        </p:spPr>
      </p:sp>
      <p:sp>
        <p:nvSpPr>
          <p:cNvPr id="20" name="Brain to search agent"/>
          <p:cNvSpPr/>
          <p:nvPr/>
        </p:nvSpPr>
        <p:spPr>
          <a:xfrm>
            <a:off x="3154680" y="2468880"/>
            <a:ext cx="0" cy="777240"/>
          </a:xfrm>
          <a:prstGeom prst="line">
            <a:avLst/>
          </a:prstGeom>
          <a:noFill/>
          <a:ln w="15875">
            <a:solidFill>
              <a:schemeClr val="tx2"/>
            </a:solidFill>
            <a:prstDash val="solid"/>
            <a:tailEnd type="triangle"/>
          </a:ln>
        </p:spPr>
      </p:sp>
      <p:sp>
        <p:nvSpPr>
          <p:cNvPr id="21" name="Brain to school agent"/>
          <p:cNvSpPr/>
          <p:nvPr/>
        </p:nvSpPr>
        <p:spPr>
          <a:xfrm>
            <a:off x="4572000" y="2468880"/>
            <a:ext cx="0" cy="777240"/>
          </a:xfrm>
          <a:prstGeom prst="line">
            <a:avLst/>
          </a:prstGeom>
          <a:noFill/>
          <a:ln w="15875">
            <a:solidFill>
              <a:schemeClr val="tx2"/>
            </a:solidFill>
            <a:prstDash val="solid"/>
            <a:tailEnd type="triangle"/>
          </a:ln>
        </p:spPr>
      </p:sp>
      <p:sp>
        <p:nvSpPr>
          <p:cNvPr id="22" name="A2A hop 1"/>
          <p:cNvSpPr/>
          <p:nvPr/>
        </p:nvSpPr>
        <p:spPr>
          <a:xfrm>
            <a:off x="5212080" y="3657600"/>
            <a:ext cx="1280160" cy="0"/>
          </a:xfrm>
          <a:prstGeom prst="line">
            <a:avLst/>
          </a:prstGeom>
          <a:noFill/>
          <a:ln w="31750">
            <a:solidFill>
              <a:schemeClr val="accent1"/>
            </a:solidFill>
            <a:prstDash val="solid"/>
            <a:tailEnd type="triangle"/>
          </a:ln>
        </p:spPr>
      </p:sp>
      <p:sp>
        <p:nvSpPr>
          <p:cNvPr id="23" name="A2A hop 1 label"/>
          <p:cNvSpPr txBox="1"/>
          <p:nvPr/>
        </p:nvSpPr>
        <p:spPr>
          <a:xfrm>
            <a:off x="5257800" y="3291840"/>
            <a:ext cx="1188720" cy="274320"/>
          </a:xfrm>
          <a:prstGeom prst="rect">
            <a:avLst/>
          </a:prstGeom>
          <a:noFill/>
          <a:ln/>
        </p:spPr>
        <p:txBody>
          <a:bodyPr wrap="square" lIns="0" tIns="0" rIns="0" bIns="0" rtlCol="0" anchor="ctr"/>
          <a:lstStyle/>
          <a:p>
            <a:pPr algn="ctr" indent="0" marL="0">
              <a:buNone/>
            </a:pPr>
            <a:r>
              <a:rPr lang="en-US" sz="1200" b="1" dirty="0">
                <a:solidFill>
                  <a:schemeClr val="accent1"/>
                </a:solidFill>
              </a:rPr>
              <a:t>A2A hop 1</a:t>
            </a:r>
            <a:endParaRPr lang="en-US" sz="1200" dirty="0"/>
          </a:p>
        </p:txBody>
      </p:sp>
      <p:sp>
        <p:nvSpPr>
          <p:cNvPr id="24" name="Root to data agent"/>
          <p:cNvSpPr/>
          <p:nvPr/>
        </p:nvSpPr>
        <p:spPr>
          <a:xfrm flipV="1">
            <a:off x="7155180" y="2468880"/>
            <a:ext cx="0" cy="777240"/>
          </a:xfrm>
          <a:prstGeom prst="line">
            <a:avLst/>
          </a:prstGeom>
          <a:noFill/>
          <a:ln w="15875">
            <a:solidFill>
              <a:schemeClr val="tx2"/>
            </a:solidFill>
            <a:prstDash val="solid"/>
            <a:tailEnd type="triangle"/>
          </a:ln>
        </p:spPr>
      </p:sp>
      <p:sp>
        <p:nvSpPr>
          <p:cNvPr id="25" name="MCP tool call"/>
          <p:cNvSpPr/>
          <p:nvPr/>
        </p:nvSpPr>
        <p:spPr>
          <a:xfrm>
            <a:off x="7818120" y="2080260"/>
            <a:ext cx="777240" cy="0"/>
          </a:xfrm>
          <a:prstGeom prst="line">
            <a:avLst/>
          </a:prstGeom>
          <a:noFill/>
          <a:ln w="31750">
            <a:solidFill>
              <a:schemeClr val="accent6"/>
            </a:solidFill>
            <a:prstDash val="solid"/>
            <a:tailEnd type="triangle"/>
          </a:ln>
        </p:spPr>
      </p:sp>
      <p:sp>
        <p:nvSpPr>
          <p:cNvPr id="26" name="MCP label"/>
          <p:cNvSpPr txBox="1"/>
          <p:nvPr/>
        </p:nvSpPr>
        <p:spPr>
          <a:xfrm>
            <a:off x="7818120" y="2130552"/>
            <a:ext cx="777240" cy="274320"/>
          </a:xfrm>
          <a:prstGeom prst="rect">
            <a:avLst/>
          </a:prstGeom>
          <a:noFill/>
          <a:ln/>
        </p:spPr>
        <p:txBody>
          <a:bodyPr wrap="square" lIns="0" tIns="0" rIns="0" bIns="0" rtlCol="0" anchor="ctr"/>
          <a:lstStyle/>
          <a:p>
            <a:pPr algn="ctr" indent="0" marL="0">
              <a:buNone/>
            </a:pPr>
            <a:r>
              <a:rPr lang="en-US" sz="1200" b="1" dirty="0">
                <a:solidFill>
                  <a:schemeClr val="accent6"/>
                </a:solidFill>
              </a:rPr>
              <a:t>MCP</a:t>
            </a:r>
            <a:endParaRPr lang="en-US" sz="1200" dirty="0"/>
          </a:p>
        </p:txBody>
      </p:sp>
      <p:sp>
        <p:nvSpPr>
          <p:cNvPr id="27" name="A2A hop 2"/>
          <p:cNvSpPr/>
          <p:nvPr/>
        </p:nvSpPr>
        <p:spPr>
          <a:xfrm>
            <a:off x="7818120" y="3657600"/>
            <a:ext cx="777240" cy="0"/>
          </a:xfrm>
          <a:prstGeom prst="line">
            <a:avLst/>
          </a:prstGeom>
          <a:noFill/>
          <a:ln w="31750">
            <a:solidFill>
              <a:schemeClr val="accent1"/>
            </a:solidFill>
            <a:prstDash val="solid"/>
            <a:tailEnd type="triangle"/>
          </a:ln>
        </p:spPr>
      </p:sp>
      <p:sp>
        <p:nvSpPr>
          <p:cNvPr id="28" name="A2A hop 2 label"/>
          <p:cNvSpPr txBox="1"/>
          <p:nvPr/>
        </p:nvSpPr>
        <p:spPr>
          <a:xfrm>
            <a:off x="7863840" y="3730752"/>
            <a:ext cx="685800" cy="274320"/>
          </a:xfrm>
          <a:prstGeom prst="rect">
            <a:avLst/>
          </a:prstGeom>
          <a:noFill/>
          <a:ln/>
        </p:spPr>
        <p:txBody>
          <a:bodyPr wrap="square" lIns="0" tIns="0" rIns="0" bIns="0" rtlCol="0" anchor="ctr"/>
          <a:lstStyle/>
          <a:p>
            <a:pPr algn="ctr" indent="0" marL="0">
              <a:buNone/>
            </a:pPr>
            <a:r>
              <a:rPr lang="en-US" sz="1100" b="1" dirty="0">
                <a:solidFill>
                  <a:schemeClr val="accent1"/>
                </a:solidFill>
              </a:rPr>
              <a:t>A2A hop 2</a:t>
            </a:r>
            <a:endParaRPr lang="en-US" sz="1100" dirty="0"/>
          </a:p>
        </p:txBody>
      </p:sp>
      <p:sp>
        <p:nvSpPr>
          <p:cNvPr id="29" name="MCP server to DB"/>
          <p:cNvSpPr/>
          <p:nvPr/>
        </p:nvSpPr>
        <p:spPr>
          <a:xfrm>
            <a:off x="10104120" y="2080260"/>
            <a:ext cx="320040" cy="411480"/>
          </a:xfrm>
          <a:prstGeom prst="line">
            <a:avLst/>
          </a:prstGeom>
          <a:noFill/>
          <a:ln w="15875">
            <a:solidFill>
              <a:schemeClr val="tx2"/>
            </a:solidFill>
            <a:prstDash val="solid"/>
            <a:tailEnd type="triangle"/>
          </a:ln>
        </p:spPr>
      </p:sp>
      <p:sp>
        <p:nvSpPr>
          <p:cNvPr id="30" name="Insights agent to DB"/>
          <p:cNvSpPr/>
          <p:nvPr/>
        </p:nvSpPr>
        <p:spPr>
          <a:xfrm flipV="1">
            <a:off x="10104120" y="3246120"/>
            <a:ext cx="320040" cy="411480"/>
          </a:xfrm>
          <a:prstGeom prst="line">
            <a:avLst/>
          </a:prstGeom>
          <a:noFill/>
          <a:ln w="15875">
            <a:solidFill>
              <a:schemeClr val="tx2"/>
            </a:solidFill>
            <a:prstDash val="solid"/>
            <a:tailEnd type="triangle"/>
          </a:ln>
        </p:spPr>
      </p:sp>
      <p:sp>
        <p:nvSpPr>
          <p:cNvPr id="31" name="School agent discovers via registry"/>
          <p:cNvSpPr/>
          <p:nvPr/>
        </p:nvSpPr>
        <p:spPr>
          <a:xfrm>
            <a:off x="5029200" y="4069080"/>
            <a:ext cx="0" cy="301752"/>
          </a:xfrm>
          <a:prstGeom prst="line">
            <a:avLst/>
          </a:prstGeom>
          <a:noFill/>
          <a:ln w="15875">
            <a:solidFill>
              <a:schemeClr val="accent4"/>
            </a:solidFill>
            <a:prstDash val="dash"/>
            <a:tailEnd type="triangle"/>
          </a:ln>
        </p:spPr>
      </p:sp>
      <p:sp>
        <p:nvSpPr>
          <p:cNvPr id="32" name="Root agent registers"/>
          <p:cNvSpPr/>
          <p:nvPr/>
        </p:nvSpPr>
        <p:spPr>
          <a:xfrm>
            <a:off x="6675120" y="4069080"/>
            <a:ext cx="0" cy="301752"/>
          </a:xfrm>
          <a:prstGeom prst="line">
            <a:avLst/>
          </a:prstGeom>
          <a:noFill/>
          <a:ln w="15875">
            <a:solidFill>
              <a:schemeClr val="accent4"/>
            </a:solidFill>
            <a:prstDash val="dash"/>
            <a:tailEnd type="triangle"/>
          </a:ln>
        </p:spPr>
      </p:sp>
      <p:sp>
        <p:nvSpPr>
          <p:cNvPr id="33" name="Diagram step 1"/>
          <p:cNvSpPr txBox="1"/>
          <p:nvPr/>
        </p:nvSpPr>
        <p:spPr>
          <a:xfrm>
            <a:off x="603504" y="1563624"/>
            <a:ext cx="292608" cy="29260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34" name="Diagram step 6"/>
          <p:cNvSpPr txBox="1"/>
          <p:nvPr/>
        </p:nvSpPr>
        <p:spPr>
          <a:xfrm>
            <a:off x="2048256" y="2322576"/>
            <a:ext cx="292608" cy="29260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5" name="Diagram step 2"/>
          <p:cNvSpPr txBox="1"/>
          <p:nvPr/>
        </p:nvSpPr>
        <p:spPr>
          <a:xfrm>
            <a:off x="2386584" y="1563624"/>
            <a:ext cx="292608" cy="29260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36" name="Diagram step 3"/>
          <p:cNvSpPr txBox="1"/>
          <p:nvPr/>
        </p:nvSpPr>
        <p:spPr>
          <a:xfrm>
            <a:off x="5705856" y="3767328"/>
            <a:ext cx="292608" cy="29260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37" name="Diagram step 4"/>
          <p:cNvSpPr txBox="1"/>
          <p:nvPr/>
        </p:nvSpPr>
        <p:spPr>
          <a:xfrm>
            <a:off x="6364224" y="1563624"/>
            <a:ext cx="292608" cy="29260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38" name="Diagram step 5"/>
          <p:cNvSpPr txBox="1"/>
          <p:nvPr/>
        </p:nvSpPr>
        <p:spPr>
          <a:xfrm>
            <a:off x="8467344" y="3118104"/>
            <a:ext cx="292608" cy="292608"/>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9" name="Diagram legend"/>
          <p:cNvSpPr txBox="1"/>
          <p:nvPr/>
        </p:nvSpPr>
        <p:spPr>
          <a:xfrm>
            <a:off x="7040880" y="4407408"/>
            <a:ext cx="4599432" cy="274320"/>
          </a:xfrm>
          <a:prstGeom prst="rect">
            <a:avLst/>
          </a:prstGeom>
          <a:noFill/>
          <a:ln/>
        </p:spPr>
        <p:txBody>
          <a:bodyPr wrap="square" lIns="0" tIns="0" rIns="0" bIns="0" rtlCol="0" anchor="ctr"/>
          <a:lstStyle/>
          <a:p>
            <a:pPr algn="r" indent="0" marL="0">
              <a:buNone/>
            </a:pPr>
            <a:r>
              <a:rPr lang="en-US" sz="1100" dirty="0">
                <a:solidFill>
                  <a:schemeClr val="tx2"/>
                </a:solidFill>
              </a:rPr>
              <a:t>Purple = A2A · Teal = MCP · Green = registry · dashed = speech</a:t>
            </a:r>
            <a:endParaRPr lang="en-US" sz="1100" dirty="0"/>
          </a:p>
        </p:txBody>
      </p:sp>
      <p:sp>
        <p:nvSpPr>
          <p:cNvPr id="40" name="Step card 1"/>
          <p:cNvSpPr/>
          <p:nvPr/>
        </p:nvSpPr>
        <p:spPr>
          <a:xfrm>
            <a:off x="548640" y="4846320"/>
            <a:ext cx="1658112" cy="1417320"/>
          </a:xfrm>
          <a:prstGeom prst="roundRect">
            <a:avLst>
              <a:gd name="adj" fmla="val 6452"/>
            </a:avLst>
          </a:prstGeom>
          <a:solidFill>
            <a:schemeClr val="bg2"/>
          </a:solidFill>
          <a:ln w="12700">
            <a:solidFill>
              <a:schemeClr val="bg2"/>
            </a:solidFill>
            <a:prstDash val="solid"/>
          </a:ln>
        </p:spPr>
      </p:sp>
      <p:sp>
        <p:nvSpPr>
          <p:cNvPr id="41" name="Step number 1"/>
          <p:cNvSpPr txBox="1"/>
          <p:nvPr/>
        </p:nvSpPr>
        <p:spPr>
          <a:xfrm>
            <a:off x="685800" y="495604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42" name="Step title 1"/>
          <p:cNvSpPr txBox="1"/>
          <p:nvPr/>
        </p:nvSpPr>
        <p:spPr>
          <a:xfrm>
            <a:off x="1161288" y="4956048"/>
            <a:ext cx="926592" cy="384048"/>
          </a:xfrm>
          <a:prstGeom prst="rect">
            <a:avLst/>
          </a:prstGeom>
          <a:noFill/>
          <a:ln/>
        </p:spPr>
        <p:txBody>
          <a:bodyPr wrap="square" lIns="0" tIns="0" rIns="0" bIns="0" rtlCol="0" anchor="ctr"/>
          <a:lstStyle/>
          <a:p>
            <a:pPr indent="0" marL="0">
              <a:buNone/>
            </a:pPr>
            <a:r>
              <a:rPr lang="en-US" sz="1700" b="1" dirty="0">
                <a:solidFill>
                  <a:schemeClr val="tx1"/>
                </a:solidFill>
              </a:rPr>
              <a:t>Speak</a:t>
            </a:r>
            <a:endParaRPr lang="en-US" sz="1700" dirty="0"/>
          </a:p>
        </p:txBody>
      </p:sp>
      <p:sp>
        <p:nvSpPr>
          <p:cNvPr id="43" name="Step text 1"/>
          <p:cNvSpPr txBox="1"/>
          <p:nvPr/>
        </p:nvSpPr>
        <p:spPr>
          <a:xfrm>
            <a:off x="685800" y="5413248"/>
            <a:ext cx="1383792" cy="777240"/>
          </a:xfrm>
          <a:prstGeom prst="rect">
            <a:avLst/>
          </a:prstGeom>
          <a:noFill/>
          <a:ln/>
        </p:spPr>
        <p:txBody>
          <a:bodyPr wrap="square" lIns="0" tIns="0" rIns="0" bIns="0" rtlCol="0" anchor="t"/>
          <a:lstStyle/>
          <a:p>
            <a:pPr indent="0" marL="0">
              <a:buNone/>
            </a:pPr>
            <a:r>
              <a:rPr lang="en-US" sz="1400" dirty="0">
                <a:solidFill>
                  <a:schemeClr val="tx2"/>
                </a:solidFill>
              </a:rPr>
              <a:t>React UI records audio; Groq Whisper transcribes</a:t>
            </a:r>
            <a:endParaRPr lang="en-US" sz="1400" dirty="0"/>
          </a:p>
        </p:txBody>
      </p:sp>
      <p:sp>
        <p:nvSpPr>
          <p:cNvPr id="44" name="Step card 2"/>
          <p:cNvSpPr/>
          <p:nvPr/>
        </p:nvSpPr>
        <p:spPr>
          <a:xfrm>
            <a:off x="2435352" y="4846320"/>
            <a:ext cx="1658112" cy="1417320"/>
          </a:xfrm>
          <a:prstGeom prst="roundRect">
            <a:avLst>
              <a:gd name="adj" fmla="val 6452"/>
            </a:avLst>
          </a:prstGeom>
          <a:solidFill>
            <a:schemeClr val="bg2"/>
          </a:solidFill>
          <a:ln w="12700">
            <a:solidFill>
              <a:schemeClr val="bg2"/>
            </a:solidFill>
            <a:prstDash val="solid"/>
          </a:ln>
        </p:spPr>
      </p:sp>
      <p:sp>
        <p:nvSpPr>
          <p:cNvPr id="45" name="Step number 2"/>
          <p:cNvSpPr txBox="1"/>
          <p:nvPr/>
        </p:nvSpPr>
        <p:spPr>
          <a:xfrm>
            <a:off x="2572512" y="495604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46" name="Step title 2"/>
          <p:cNvSpPr txBox="1"/>
          <p:nvPr/>
        </p:nvSpPr>
        <p:spPr>
          <a:xfrm>
            <a:off x="3048000" y="4956048"/>
            <a:ext cx="926592" cy="384048"/>
          </a:xfrm>
          <a:prstGeom prst="rect">
            <a:avLst/>
          </a:prstGeom>
          <a:noFill/>
          <a:ln/>
        </p:spPr>
        <p:txBody>
          <a:bodyPr wrap="square" lIns="0" tIns="0" rIns="0" bIns="0" rtlCol="0" anchor="ctr"/>
          <a:lstStyle/>
          <a:p>
            <a:pPr indent="0" marL="0">
              <a:buNone/>
            </a:pPr>
            <a:r>
              <a:rPr lang="en-US" sz="1700" b="1" dirty="0">
                <a:solidFill>
                  <a:schemeClr val="tx1"/>
                </a:solidFill>
              </a:rPr>
              <a:t>Route</a:t>
            </a:r>
            <a:endParaRPr lang="en-US" sz="1700" dirty="0"/>
          </a:p>
        </p:txBody>
      </p:sp>
      <p:sp>
        <p:nvSpPr>
          <p:cNvPr id="47" name="Step text 2"/>
          <p:cNvSpPr txBox="1"/>
          <p:nvPr/>
        </p:nvSpPr>
        <p:spPr>
          <a:xfrm>
            <a:off x="2572512" y="5413248"/>
            <a:ext cx="1383792" cy="777240"/>
          </a:xfrm>
          <a:prstGeom prst="rect">
            <a:avLst/>
          </a:prstGeom>
          <a:noFill/>
          <a:ln/>
        </p:spPr>
        <p:txBody>
          <a:bodyPr wrap="square" lIns="0" tIns="0" rIns="0" bIns="0" rtlCol="0" anchor="t"/>
          <a:lstStyle/>
          <a:p>
            <a:pPr indent="0" marL="0">
              <a:buNone/>
            </a:pPr>
            <a:r>
              <a:rPr lang="en-US" sz="1400" dirty="0">
                <a:solidFill>
                  <a:schemeClr val="tx2"/>
                </a:solidFill>
              </a:rPr>
              <a:t>Groq gpt-oss picks a tool: search or school</a:t>
            </a:r>
            <a:endParaRPr lang="en-US" sz="1400" dirty="0"/>
          </a:p>
        </p:txBody>
      </p:sp>
      <p:sp>
        <p:nvSpPr>
          <p:cNvPr id="48" name="Step card 3"/>
          <p:cNvSpPr/>
          <p:nvPr/>
        </p:nvSpPr>
        <p:spPr>
          <a:xfrm>
            <a:off x="4322064" y="4846320"/>
            <a:ext cx="1658112" cy="1417320"/>
          </a:xfrm>
          <a:prstGeom prst="roundRect">
            <a:avLst>
              <a:gd name="adj" fmla="val 6452"/>
            </a:avLst>
          </a:prstGeom>
          <a:solidFill>
            <a:schemeClr val="bg2"/>
          </a:solidFill>
          <a:ln w="12700">
            <a:solidFill>
              <a:schemeClr val="bg2"/>
            </a:solidFill>
            <a:prstDash val="solid"/>
          </a:ln>
        </p:spPr>
      </p:sp>
      <p:sp>
        <p:nvSpPr>
          <p:cNvPr id="49" name="Step number 3"/>
          <p:cNvSpPr txBox="1"/>
          <p:nvPr/>
        </p:nvSpPr>
        <p:spPr>
          <a:xfrm>
            <a:off x="4459224" y="495604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50" name="Step title 3"/>
          <p:cNvSpPr txBox="1"/>
          <p:nvPr/>
        </p:nvSpPr>
        <p:spPr>
          <a:xfrm>
            <a:off x="4934712" y="4956048"/>
            <a:ext cx="926592" cy="384048"/>
          </a:xfrm>
          <a:prstGeom prst="rect">
            <a:avLst/>
          </a:prstGeom>
          <a:noFill/>
          <a:ln/>
        </p:spPr>
        <p:txBody>
          <a:bodyPr wrap="square" lIns="0" tIns="0" rIns="0" bIns="0" rtlCol="0" anchor="ctr"/>
          <a:lstStyle/>
          <a:p>
            <a:pPr indent="0" marL="0">
              <a:buNone/>
            </a:pPr>
            <a:r>
              <a:rPr lang="en-US" sz="1700" b="1" dirty="0">
                <a:solidFill>
                  <a:schemeClr val="tx1"/>
                </a:solidFill>
              </a:rPr>
              <a:t>Delegate</a:t>
            </a:r>
            <a:endParaRPr lang="en-US" sz="1700" dirty="0"/>
          </a:p>
        </p:txBody>
      </p:sp>
      <p:sp>
        <p:nvSpPr>
          <p:cNvPr id="51" name="Step text 3"/>
          <p:cNvSpPr txBox="1"/>
          <p:nvPr/>
        </p:nvSpPr>
        <p:spPr>
          <a:xfrm>
            <a:off x="4459224" y="5413248"/>
            <a:ext cx="1383792" cy="777240"/>
          </a:xfrm>
          <a:prstGeom prst="rect">
            <a:avLst/>
          </a:prstGeom>
          <a:noFill/>
          <a:ln/>
        </p:spPr>
        <p:txBody>
          <a:bodyPr wrap="square" lIns="0" tIns="0" rIns="0" bIns="0" rtlCol="0" anchor="t"/>
          <a:lstStyle/>
          <a:p>
            <a:pPr indent="0" marL="0">
              <a:buNone/>
            </a:pPr>
            <a:r>
              <a:rPr lang="en-US" sz="1400" dirty="0">
                <a:solidFill>
                  <a:schemeClr val="tx2"/>
                </a:solidFill>
              </a:rPr>
              <a:t>Registry lookup, then A2A to the root agent</a:t>
            </a:r>
            <a:endParaRPr lang="en-US" sz="1400" dirty="0"/>
          </a:p>
        </p:txBody>
      </p:sp>
      <p:sp>
        <p:nvSpPr>
          <p:cNvPr id="52" name="Step card 4"/>
          <p:cNvSpPr/>
          <p:nvPr/>
        </p:nvSpPr>
        <p:spPr>
          <a:xfrm>
            <a:off x="6208776" y="4846320"/>
            <a:ext cx="1658112" cy="1417320"/>
          </a:xfrm>
          <a:prstGeom prst="roundRect">
            <a:avLst>
              <a:gd name="adj" fmla="val 6452"/>
            </a:avLst>
          </a:prstGeom>
          <a:solidFill>
            <a:schemeClr val="bg2"/>
          </a:solidFill>
          <a:ln w="12700">
            <a:solidFill>
              <a:schemeClr val="bg2"/>
            </a:solidFill>
            <a:prstDash val="solid"/>
          </a:ln>
        </p:spPr>
      </p:sp>
      <p:sp>
        <p:nvSpPr>
          <p:cNvPr id="53" name="Step number 4"/>
          <p:cNvSpPr txBox="1"/>
          <p:nvPr/>
        </p:nvSpPr>
        <p:spPr>
          <a:xfrm>
            <a:off x="6345936" y="495604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54" name="Step title 4"/>
          <p:cNvSpPr txBox="1"/>
          <p:nvPr/>
        </p:nvSpPr>
        <p:spPr>
          <a:xfrm>
            <a:off x="6821424" y="4956048"/>
            <a:ext cx="926592" cy="384048"/>
          </a:xfrm>
          <a:prstGeom prst="rect">
            <a:avLst/>
          </a:prstGeom>
          <a:noFill/>
          <a:ln/>
        </p:spPr>
        <p:txBody>
          <a:bodyPr wrap="square" lIns="0" tIns="0" rIns="0" bIns="0" rtlCol="0" anchor="ctr"/>
          <a:lstStyle/>
          <a:p>
            <a:pPr indent="0" marL="0">
              <a:buNone/>
            </a:pPr>
            <a:r>
              <a:rPr lang="en-US" sz="1700" b="1" dirty="0">
                <a:solidFill>
                  <a:schemeClr val="tx1"/>
                </a:solidFill>
              </a:rPr>
              <a:t>Query</a:t>
            </a:r>
            <a:endParaRPr lang="en-US" sz="1700" dirty="0"/>
          </a:p>
        </p:txBody>
      </p:sp>
      <p:sp>
        <p:nvSpPr>
          <p:cNvPr id="55" name="Step text 4"/>
          <p:cNvSpPr txBox="1"/>
          <p:nvPr/>
        </p:nvSpPr>
        <p:spPr>
          <a:xfrm>
            <a:off x="6345936" y="5413248"/>
            <a:ext cx="1383792" cy="777240"/>
          </a:xfrm>
          <a:prstGeom prst="rect">
            <a:avLst/>
          </a:prstGeom>
          <a:noFill/>
          <a:ln/>
        </p:spPr>
        <p:txBody>
          <a:bodyPr wrap="square" lIns="0" tIns="0" rIns="0" bIns="0" rtlCol="0" anchor="t"/>
          <a:lstStyle/>
          <a:p>
            <a:pPr indent="0" marL="0">
              <a:buNone/>
            </a:pPr>
            <a:r>
              <a:rPr lang="en-US" sz="1400" dirty="0">
                <a:solidFill>
                  <a:schemeClr val="tx2"/>
                </a:solidFill>
              </a:rPr>
              <a:t>data_agent calls run_sql on the MCP server</a:t>
            </a:r>
            <a:endParaRPr lang="en-US" sz="1400" dirty="0"/>
          </a:p>
        </p:txBody>
      </p:sp>
      <p:sp>
        <p:nvSpPr>
          <p:cNvPr id="56" name="Step card 5"/>
          <p:cNvSpPr/>
          <p:nvPr/>
        </p:nvSpPr>
        <p:spPr>
          <a:xfrm>
            <a:off x="8095488" y="4846320"/>
            <a:ext cx="1658112" cy="1417320"/>
          </a:xfrm>
          <a:prstGeom prst="roundRect">
            <a:avLst>
              <a:gd name="adj" fmla="val 6452"/>
            </a:avLst>
          </a:prstGeom>
          <a:solidFill>
            <a:schemeClr val="bg2"/>
          </a:solidFill>
          <a:ln w="12700">
            <a:solidFill>
              <a:schemeClr val="bg2"/>
            </a:solidFill>
            <a:prstDash val="solid"/>
          </a:ln>
        </p:spPr>
      </p:sp>
      <p:sp>
        <p:nvSpPr>
          <p:cNvPr id="57" name="Step number 5"/>
          <p:cNvSpPr txBox="1"/>
          <p:nvPr/>
        </p:nvSpPr>
        <p:spPr>
          <a:xfrm>
            <a:off x="8232648" y="495604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58" name="Step title 5"/>
          <p:cNvSpPr txBox="1"/>
          <p:nvPr/>
        </p:nvSpPr>
        <p:spPr>
          <a:xfrm>
            <a:off x="8708136" y="4956048"/>
            <a:ext cx="926592" cy="384048"/>
          </a:xfrm>
          <a:prstGeom prst="rect">
            <a:avLst/>
          </a:prstGeom>
          <a:noFill/>
          <a:ln/>
        </p:spPr>
        <p:txBody>
          <a:bodyPr wrap="square" lIns="0" tIns="0" rIns="0" bIns="0" rtlCol="0" anchor="ctr"/>
          <a:lstStyle/>
          <a:p>
            <a:pPr indent="0" marL="0">
              <a:buNone/>
            </a:pPr>
            <a:r>
              <a:rPr lang="en-US" sz="1700" b="1" dirty="0">
                <a:solidFill>
                  <a:schemeClr val="tx1"/>
                </a:solidFill>
              </a:rPr>
              <a:t>Explain</a:t>
            </a:r>
            <a:endParaRPr lang="en-US" sz="1700" dirty="0"/>
          </a:p>
        </p:txBody>
      </p:sp>
      <p:sp>
        <p:nvSpPr>
          <p:cNvPr id="59" name="Step text 5"/>
          <p:cNvSpPr txBox="1"/>
          <p:nvPr/>
        </p:nvSpPr>
        <p:spPr>
          <a:xfrm>
            <a:off x="8232648" y="5413248"/>
            <a:ext cx="1383792" cy="777240"/>
          </a:xfrm>
          <a:prstGeom prst="rect">
            <a:avLst/>
          </a:prstGeom>
          <a:noFill/>
          <a:ln/>
        </p:spPr>
        <p:txBody>
          <a:bodyPr wrap="square" lIns="0" tIns="0" rIns="0" bIns="0" rtlCol="0" anchor="t"/>
          <a:lstStyle/>
          <a:p>
            <a:pPr indent="0" marL="0">
              <a:buNone/>
            </a:pPr>
            <a:r>
              <a:rPr lang="en-US" sz="1400" dirty="0">
                <a:solidFill>
                  <a:schemeClr val="tx2"/>
                </a:solidFill>
              </a:rPr>
              <a:t>insights_agent adds statistics (A2A hop 2)</a:t>
            </a:r>
            <a:endParaRPr lang="en-US" sz="1400" dirty="0"/>
          </a:p>
        </p:txBody>
      </p:sp>
      <p:sp>
        <p:nvSpPr>
          <p:cNvPr id="60" name="Step card 6"/>
          <p:cNvSpPr/>
          <p:nvPr/>
        </p:nvSpPr>
        <p:spPr>
          <a:xfrm>
            <a:off x="9982200" y="4846320"/>
            <a:ext cx="1658112" cy="1417320"/>
          </a:xfrm>
          <a:prstGeom prst="roundRect">
            <a:avLst>
              <a:gd name="adj" fmla="val 6452"/>
            </a:avLst>
          </a:prstGeom>
          <a:solidFill>
            <a:schemeClr val="bg2"/>
          </a:solidFill>
          <a:ln w="12700">
            <a:solidFill>
              <a:schemeClr val="bg2"/>
            </a:solidFill>
            <a:prstDash val="solid"/>
          </a:ln>
        </p:spPr>
      </p:sp>
      <p:sp>
        <p:nvSpPr>
          <p:cNvPr id="61" name="Step number 6"/>
          <p:cNvSpPr txBox="1"/>
          <p:nvPr/>
        </p:nvSpPr>
        <p:spPr>
          <a:xfrm>
            <a:off x="10119360" y="4956048"/>
            <a:ext cx="384048" cy="384048"/>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62" name="Step title 6"/>
          <p:cNvSpPr txBox="1"/>
          <p:nvPr/>
        </p:nvSpPr>
        <p:spPr>
          <a:xfrm>
            <a:off x="10594848" y="4956048"/>
            <a:ext cx="926592" cy="384048"/>
          </a:xfrm>
          <a:prstGeom prst="rect">
            <a:avLst/>
          </a:prstGeom>
          <a:noFill/>
          <a:ln/>
        </p:spPr>
        <p:txBody>
          <a:bodyPr wrap="square" lIns="0" tIns="0" rIns="0" bIns="0" rtlCol="0" anchor="ctr"/>
          <a:lstStyle/>
          <a:p>
            <a:pPr indent="0" marL="0">
              <a:buNone/>
            </a:pPr>
            <a:r>
              <a:rPr lang="en-US" sz="1700" b="1" dirty="0">
                <a:solidFill>
                  <a:schemeClr val="tx1"/>
                </a:solidFill>
              </a:rPr>
              <a:t>Answer</a:t>
            </a:r>
            <a:endParaRPr lang="en-US" sz="1700" dirty="0"/>
          </a:p>
        </p:txBody>
      </p:sp>
      <p:sp>
        <p:nvSpPr>
          <p:cNvPr id="63" name="Step text 6"/>
          <p:cNvSpPr txBox="1"/>
          <p:nvPr/>
        </p:nvSpPr>
        <p:spPr>
          <a:xfrm>
            <a:off x="10119360" y="5413248"/>
            <a:ext cx="1383792" cy="777240"/>
          </a:xfrm>
          <a:prstGeom prst="rect">
            <a:avLst/>
          </a:prstGeom>
          <a:noFill/>
          <a:ln/>
        </p:spPr>
        <p:txBody>
          <a:bodyPr wrap="square" lIns="0" tIns="0" rIns="0" bIns="0" rtlCol="0" anchor="t"/>
          <a:lstStyle/>
          <a:p>
            <a:pPr indent="0" marL="0">
              <a:buNone/>
            </a:pPr>
            <a:r>
              <a:rPr lang="en-US" sz="1400" dirty="0">
                <a:solidFill>
                  <a:schemeClr val="tx2"/>
                </a:solidFill>
              </a:rPr>
              <a:t>Spoken summary, full table in transcript</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Delivered against the brief</a:t>
            </a:r>
            <a:endParaRPr lang="en-US" sz="3200" dirty="0"/>
          </a:p>
        </p:txBody>
      </p:sp>
      <p:graphicFrame>
        <p:nvGraphicFramePr>
          <p:cNvPr id="4" name="Requirements table"/>
          <p:cNvGraphicFramePr>
            <a:graphicFrameLocks noGrp="1"/>
          </p:cNvGraphicFramePr>
          <p:nvPr>
            <p:extLst>
              <p:ext uri="{D42A27DB-BD31-4B8C-83A1-F6EECF244321}">
                <p14:modId xmlns:p14="http://schemas.microsoft.com/office/powerpoint/2010/main" val="1579011935"/>
              </p:ext>
            </p:extLst>
          </p:nvPr>
        </p:nvGraphicFramePr>
        <p:xfrm>
          <a:off x="548640" y="1280160"/>
          <a:ext cx="6766560" cy="914400"/>
        </p:xfrm>
        <a:graphic>
          <a:graphicData uri="http://schemas.openxmlformats.org/drawingml/2006/table">
            <a:tbl>
              <a:tblPr/>
              <a:tblGrid>
                <a:gridCol w="1874520"/>
                <a:gridCol w="3977640"/>
                <a:gridCol w="914400"/>
              </a:tblGrid>
              <a:tr h="411480">
                <a:tc>
                  <a:txBody>
                    <a:bodyPr/>
                    <a:lstStyle/>
                    <a:p>
                      <a:pPr indent="0" marL="0">
                        <a:buNone/>
                      </a:pPr>
                      <a:r>
                        <a:rPr lang="en-US" sz="1400" b="1" dirty="0">
                          <a:solidFill>
                            <a:schemeClr val="bg1"/>
                          </a:solidFill>
                        </a:rPr>
                        <a:t>Required step</a:t>
                      </a:r>
                      <a:endParaRPr lang="en-US" sz="1400" dirty="0"/>
                    </a:p>
                  </a:txBody>
                  <a:tcPr marL="91440" marR="91440"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How we did it</a:t>
                      </a:r>
                      <a:endParaRPr lang="en-US" sz="1400" dirty="0"/>
                    </a:p>
                  </a:txBody>
                  <a:tcPr marL="91440" marR="91440"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Status</a:t>
                      </a:r>
                      <a:endParaRPr lang="en-US" sz="1400" dirty="0"/>
                    </a:p>
                  </a:txBody>
                  <a:tcPr marL="91440" marR="91440"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r>
              <a:tr h="685800">
                <a:tc>
                  <a:txBody>
                    <a:bodyPr/>
                    <a:lstStyle/>
                    <a:p>
                      <a:pPr indent="0" marL="0">
                        <a:buNone/>
                      </a:pPr>
                      <a:r>
                        <a:rPr lang="en-US" sz="1400" dirty="0">
                          <a:solidFill>
                            <a:schemeClr val="tx1"/>
                          </a:solidFill>
                        </a:rPr>
                        <a:t>Find your data</a:t>
                      </a:r>
                      <a:endParaRPr lang="en-US" sz="1400" dirty="0"/>
                    </a:p>
                  </a:txBody>
                  <a:tcPr marL="91440" marR="91440"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rPr>
                        <a:t>NCES CCD, CRDC and EdFacts via the Urban Institute API: 6 tables + 1 joined view</a:t>
                      </a:r>
                      <a:endParaRPr lang="en-US" sz="1400" dirty="0"/>
                    </a:p>
                  </a:txBody>
                  <a:tcPr marL="91440" marR="91440"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b="1" dirty="0">
                          <a:solidFill>
                            <a:schemeClr val="accent4"/>
                          </a:solidFill>
                        </a:rPr>
                        <a:t>Done</a:t>
                      </a:r>
                      <a:endParaRPr lang="en-US" sz="1400" dirty="0"/>
                    </a:p>
                  </a:txBody>
                  <a:tcPr marL="91440" marR="91440"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685800">
                <a:tc>
                  <a:txBody>
                    <a:bodyPr/>
                    <a:lstStyle/>
                    <a:p>
                      <a:pPr indent="0" marL="0">
                        <a:buNone/>
                      </a:pPr>
                      <a:r>
                        <a:rPr lang="en-US" sz="1400" dirty="0">
                          <a:solidFill>
                            <a:schemeClr val="tx1"/>
                          </a:solidFill>
                        </a:rPr>
                        <a:t>Leverage BigQuery</a:t>
                      </a:r>
                      <a:endParaRPr lang="en-US" sz="1400" dirty="0"/>
                    </a:p>
                  </a:txBody>
                  <a:tcPr marL="91440" marR="91440"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rPr>
                        <a:t>Local SQLite with the same SQL approach (no GCP project needed)</a:t>
                      </a:r>
                      <a:endParaRPr lang="en-US" sz="1400" dirty="0"/>
                    </a:p>
                  </a:txBody>
                  <a:tcPr marL="91440" marR="91440"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b="1" dirty="0">
                          <a:solidFill>
                            <a:schemeClr val="accent2"/>
                          </a:solidFill>
                        </a:rPr>
                        <a:t>Adapted</a:t>
                      </a:r>
                      <a:endParaRPr lang="en-US" sz="1400" dirty="0"/>
                    </a:p>
                  </a:txBody>
                  <a:tcPr marL="91440" marR="91440"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685800">
                <a:tc>
                  <a:txBody>
                    <a:bodyPr/>
                    <a:lstStyle/>
                    <a:p>
                      <a:pPr indent="0" marL="0">
                        <a:buNone/>
                      </a:pPr>
                      <a:r>
                        <a:rPr lang="en-US" sz="1400" dirty="0">
                          <a:solidFill>
                            <a:schemeClr val="tx1"/>
                          </a:solidFill>
                        </a:rPr>
                        <a:t>Create agents with ADK</a:t>
                      </a:r>
                      <a:endParaRPr lang="en-US" sz="1400" dirty="0"/>
                    </a:p>
                  </a:txBody>
                  <a:tcPr marL="91440" marR="91440"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rPr>
                        <a:t>Root, data, insights and Google Search agents; database tools over MCP</a:t>
                      </a:r>
                      <a:endParaRPr lang="en-US" sz="1400" dirty="0"/>
                    </a:p>
                  </a:txBody>
                  <a:tcPr marL="91440" marR="91440"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b="1" dirty="0">
                          <a:solidFill>
                            <a:schemeClr val="accent4"/>
                          </a:solidFill>
                        </a:rPr>
                        <a:t>Done</a:t>
                      </a:r>
                      <a:endParaRPr lang="en-US" sz="1400" dirty="0"/>
                    </a:p>
                  </a:txBody>
                  <a:tcPr marL="91440" marR="91440"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685800">
                <a:tc>
                  <a:txBody>
                    <a:bodyPr/>
                    <a:lstStyle/>
                    <a:p>
                      <a:pPr indent="0" marL="0">
                        <a:buNone/>
                      </a:pPr>
                      <a:r>
                        <a:rPr lang="en-US" sz="1400" dirty="0">
                          <a:solidFill>
                            <a:schemeClr val="tx1"/>
                          </a:solidFill>
                        </a:rPr>
                        <a:t>Deploy to Agent Engine</a:t>
                      </a:r>
                      <a:endParaRPr lang="en-US" sz="1400" dirty="0"/>
                    </a:p>
                  </a:txBody>
                  <a:tcPr marL="91440" marR="91440"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rPr>
                        <a:t>Runs locally today: React voice UI, Streamlit, adk web</a:t>
                      </a:r>
                      <a:endParaRPr lang="en-US" sz="1400" dirty="0"/>
                    </a:p>
                  </a:txBody>
                  <a:tcPr marL="91440" marR="91440"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b="1" dirty="0">
                          <a:solidFill>
                            <a:schemeClr val="tx2"/>
                          </a:solidFill>
                        </a:rPr>
                        <a:t>Next</a:t>
                      </a:r>
                      <a:endParaRPr lang="en-US" sz="1400" dirty="0"/>
                    </a:p>
                  </a:txBody>
                  <a:tcPr marL="91440" marR="91440"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685800">
                <a:tc>
                  <a:txBody>
                    <a:bodyPr/>
                    <a:lstStyle/>
                    <a:p>
                      <a:pPr indent="0" marL="0">
                        <a:buNone/>
                      </a:pPr>
                      <a:r>
                        <a:rPr lang="en-US" sz="1400" dirty="0">
                          <a:solidFill>
                            <a:schemeClr val="tx1"/>
                          </a:solidFill>
                        </a:rPr>
                        <a:t>Show A2A</a:t>
                      </a:r>
                      <a:endParaRPr lang="en-US" sz="1400" dirty="0"/>
                    </a:p>
                  </a:txBody>
                  <a:tcPr marL="91440" marR="91440"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rPr>
                        <a:t>Two hops (voice → root :8002 → insights :8001), found via an Agent Registry</a:t>
                      </a:r>
                      <a:endParaRPr lang="en-US" sz="1400" dirty="0"/>
                    </a:p>
                  </a:txBody>
                  <a:tcPr marL="91440" marR="91440"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b="1" dirty="0">
                          <a:solidFill>
                            <a:schemeClr val="accent4"/>
                          </a:solidFill>
                        </a:rPr>
                        <a:t>Done</a:t>
                      </a:r>
                      <a:endParaRPr lang="en-US" sz="1400" dirty="0"/>
                    </a:p>
                  </a:txBody>
                  <a:tcPr marL="91440" marR="91440" marT="54864" marB="54864"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bl>
          </a:graphicData>
        </a:graphic>
      </p:graphicFrame>
      <p:sp>
        <p:nvSpPr>
          <p:cNvPr id="4" name="Stretch goals"/>
          <p:cNvSpPr txBox="1"/>
          <p:nvPr/>
        </p:nvSpPr>
        <p:spPr>
          <a:xfrm>
            <a:off x="548640" y="5486400"/>
            <a:ext cx="6766560" cy="640080"/>
          </a:xfrm>
          <a:prstGeom prst="rect">
            <a:avLst/>
          </a:prstGeom>
          <a:noFill/>
          <a:ln/>
        </p:spPr>
        <p:txBody>
          <a:bodyPr wrap="square" lIns="0" tIns="0" rIns="0" bIns="0" rtlCol="0" anchor="ctr"/>
          <a:lstStyle/>
          <a:p>
            <a:pPr indent="0" marL="0">
              <a:buNone/>
            </a:pPr>
            <a:r>
              <a:rPr lang="en-US" sz="1400" b="1" dirty="0">
                <a:solidFill>
                  <a:schemeClr val="accent1"/>
                </a:solidFill>
              </a:rPr>
              <a:t>Stretch goals met: </a:t>
            </a:r>
            <a:pPr indent="0" marL="0">
              <a:buNone/>
            </a:pPr>
            <a:r>
              <a:rPr lang="en-US" sz="1400" dirty="0">
                <a:solidFill>
                  <a:schemeClr val="tx1"/>
                </a:solidFill>
              </a:rPr>
              <a:t>charts · evidence-based interventions · combined datasets · voice and image input · MCP tool server · agent registry</a:t>
            </a:r>
            <a:endParaRPr lang="en-US" sz="1400" dirty="0"/>
          </a:p>
        </p:txBody>
      </p:sp>
      <p:sp>
        <p:nvSpPr>
          <p:cNvPr id="5" name="Answers heading"/>
          <p:cNvSpPr txBox="1"/>
          <p:nvPr/>
        </p:nvSpPr>
        <p:spPr>
          <a:xfrm>
            <a:off x="7680960" y="1280160"/>
            <a:ext cx="3959352" cy="411480"/>
          </a:xfrm>
          <a:prstGeom prst="rect">
            <a:avLst/>
          </a:prstGeom>
          <a:noFill/>
          <a:ln/>
        </p:spPr>
        <p:txBody>
          <a:bodyPr wrap="square" lIns="0" tIns="0" rIns="0" bIns="0" rtlCol="0" anchor="ctr"/>
          <a:lstStyle/>
          <a:p>
            <a:pPr indent="0" marL="0">
              <a:buNone/>
            </a:pPr>
            <a:r>
              <a:rPr lang="en-US" sz="1800" b="1" dirty="0">
                <a:solidFill>
                  <a:schemeClr val="tx1"/>
                </a:solidFill>
              </a:rPr>
              <a:t>Real answers from the system</a:t>
            </a:r>
            <a:endParaRPr lang="en-US" sz="1800" dirty="0"/>
          </a:p>
        </p:txBody>
      </p:sp>
      <p:sp>
        <p:nvSpPr>
          <p:cNvPr id="6" name="Answer card 1"/>
          <p:cNvSpPr/>
          <p:nvPr/>
        </p:nvSpPr>
        <p:spPr>
          <a:xfrm>
            <a:off x="7680960" y="1828800"/>
            <a:ext cx="3959352" cy="1280160"/>
          </a:xfrm>
          <a:prstGeom prst="roundRect">
            <a:avLst>
              <a:gd name="adj" fmla="val 7143"/>
            </a:avLst>
          </a:prstGeom>
          <a:solidFill>
            <a:schemeClr val="bg2"/>
          </a:solidFill>
          <a:ln w="12700">
            <a:solidFill>
              <a:schemeClr val="bg2"/>
            </a:solidFill>
            <a:prstDash val="solid"/>
          </a:ln>
        </p:spPr>
      </p:sp>
      <p:sp>
        <p:nvSpPr>
          <p:cNvPr id="7" name="Answer question 1"/>
          <p:cNvSpPr txBox="1"/>
          <p:nvPr/>
        </p:nvSpPr>
        <p:spPr>
          <a:xfrm>
            <a:off x="7863840" y="1938528"/>
            <a:ext cx="3593592" cy="320040"/>
          </a:xfrm>
          <a:prstGeom prst="rect">
            <a:avLst/>
          </a:prstGeom>
          <a:noFill/>
          <a:ln/>
        </p:spPr>
        <p:txBody>
          <a:bodyPr wrap="square" lIns="0" tIns="0" rIns="0" bIns="0" rtlCol="0" anchor="ctr"/>
          <a:lstStyle/>
          <a:p>
            <a:pPr indent="0" marL="0">
              <a:buNone/>
            </a:pPr>
            <a:r>
              <a:rPr lang="en-US" sz="1400" b="1" dirty="0">
                <a:solidFill>
                  <a:schemeClr val="accent1"/>
                </a:solidFill>
              </a:rPr>
              <a:t>Grant priority · Fresno County</a:t>
            </a:r>
            <a:endParaRPr lang="en-US" sz="1400" dirty="0"/>
          </a:p>
        </p:txBody>
      </p:sp>
      <p:sp>
        <p:nvSpPr>
          <p:cNvPr id="8" name="Answer text 1"/>
          <p:cNvSpPr txBox="1"/>
          <p:nvPr/>
        </p:nvSpPr>
        <p:spPr>
          <a:xfrm>
            <a:off x="7863840" y="2258568"/>
            <a:ext cx="3593592" cy="777240"/>
          </a:xfrm>
          <a:prstGeom prst="rect">
            <a:avLst/>
          </a:prstGeom>
          <a:noFill/>
          <a:ln/>
        </p:spPr>
        <p:txBody>
          <a:bodyPr wrap="square" lIns="0" tIns="0" rIns="0" bIns="0" rtlCol="0" anchor="t"/>
          <a:lstStyle/>
          <a:p>
            <a:pPr indent="0" marL="0">
              <a:buNone/>
            </a:pPr>
            <a:r>
              <a:rPr lang="en-US" sz="1400" dirty="0">
                <a:solidFill>
                  <a:schemeClr val="tx1"/>
                </a:solidFill>
              </a:rPr>
              <a:t>John C Martinez Elementary: 99.8% low-income, only $183 per pupil in non-salary spending</a:t>
            </a:r>
            <a:endParaRPr lang="en-US" sz="1400" dirty="0"/>
          </a:p>
        </p:txBody>
      </p:sp>
      <p:sp>
        <p:nvSpPr>
          <p:cNvPr id="9" name="Answer card 2"/>
          <p:cNvSpPr/>
          <p:nvPr/>
        </p:nvSpPr>
        <p:spPr>
          <a:xfrm>
            <a:off x="7680960" y="3291840"/>
            <a:ext cx="3959352" cy="1280160"/>
          </a:xfrm>
          <a:prstGeom prst="roundRect">
            <a:avLst>
              <a:gd name="adj" fmla="val 7143"/>
            </a:avLst>
          </a:prstGeom>
          <a:solidFill>
            <a:schemeClr val="bg2"/>
          </a:solidFill>
          <a:ln w="12700">
            <a:solidFill>
              <a:schemeClr val="bg2"/>
            </a:solidFill>
            <a:prstDash val="solid"/>
          </a:ln>
        </p:spPr>
      </p:sp>
      <p:sp>
        <p:nvSpPr>
          <p:cNvPr id="10" name="Answer question 2"/>
          <p:cNvSpPr txBox="1"/>
          <p:nvPr/>
        </p:nvSpPr>
        <p:spPr>
          <a:xfrm>
            <a:off x="7863840" y="3401568"/>
            <a:ext cx="3593592" cy="320040"/>
          </a:xfrm>
          <a:prstGeom prst="rect">
            <a:avLst/>
          </a:prstGeom>
          <a:noFill/>
          <a:ln/>
        </p:spPr>
        <p:txBody>
          <a:bodyPr wrap="square" lIns="0" tIns="0" rIns="0" bIns="0" rtlCol="0" anchor="ctr"/>
          <a:lstStyle/>
          <a:p>
            <a:pPr indent="0" marL="0">
              <a:buNone/>
            </a:pPr>
            <a:r>
              <a:rPr lang="en-US" sz="1400" b="1" dirty="0">
                <a:solidFill>
                  <a:schemeClr val="accent1"/>
                </a:solidFill>
              </a:rPr>
              <a:t>High graduation, low funding</a:t>
            </a:r>
            <a:endParaRPr lang="en-US" sz="1400" dirty="0"/>
          </a:p>
        </p:txBody>
      </p:sp>
      <p:sp>
        <p:nvSpPr>
          <p:cNvPr id="11" name="Answer text 2"/>
          <p:cNvSpPr txBox="1"/>
          <p:nvPr/>
        </p:nvSpPr>
        <p:spPr>
          <a:xfrm>
            <a:off x="7863840" y="3721608"/>
            <a:ext cx="3593592" cy="777240"/>
          </a:xfrm>
          <a:prstGeom prst="rect">
            <a:avLst/>
          </a:prstGeom>
          <a:noFill/>
          <a:ln/>
        </p:spPr>
        <p:txBody>
          <a:bodyPr wrap="square" lIns="0" tIns="0" rIns="0" bIns="0" rtlCol="0" anchor="t"/>
          <a:lstStyle/>
          <a:p>
            <a:pPr indent="0" marL="0">
              <a:buNone/>
            </a:pPr>
            <a:r>
              <a:rPr lang="en-US" sz="1400" dirty="0">
                <a:solidFill>
                  <a:schemeClr val="tx1"/>
                </a:solidFill>
              </a:rPr>
              <a:t>Whitney High (Placer): 99% graduation at $4,103 per pupil, below the state average</a:t>
            </a:r>
            <a:endParaRPr lang="en-US" sz="1400" dirty="0"/>
          </a:p>
        </p:txBody>
      </p:sp>
      <p:sp>
        <p:nvSpPr>
          <p:cNvPr id="12" name="Answer card 3"/>
          <p:cNvSpPr/>
          <p:nvPr/>
        </p:nvSpPr>
        <p:spPr>
          <a:xfrm>
            <a:off x="7680960" y="4754880"/>
            <a:ext cx="3959352" cy="1280160"/>
          </a:xfrm>
          <a:prstGeom prst="roundRect">
            <a:avLst>
              <a:gd name="adj" fmla="val 7143"/>
            </a:avLst>
          </a:prstGeom>
          <a:solidFill>
            <a:schemeClr val="bg2"/>
          </a:solidFill>
          <a:ln w="12700">
            <a:solidFill>
              <a:schemeClr val="bg2"/>
            </a:solidFill>
            <a:prstDash val="solid"/>
          </a:ln>
        </p:spPr>
      </p:sp>
      <p:sp>
        <p:nvSpPr>
          <p:cNvPr id="13" name="Answer question 3"/>
          <p:cNvSpPr txBox="1"/>
          <p:nvPr/>
        </p:nvSpPr>
        <p:spPr>
          <a:xfrm>
            <a:off x="7863840" y="4864608"/>
            <a:ext cx="3593592" cy="320040"/>
          </a:xfrm>
          <a:prstGeom prst="rect">
            <a:avLst/>
          </a:prstGeom>
          <a:noFill/>
          <a:ln/>
        </p:spPr>
        <p:txBody>
          <a:bodyPr wrap="square" lIns="0" tIns="0" rIns="0" bIns="0" rtlCol="0" anchor="ctr"/>
          <a:lstStyle/>
          <a:p>
            <a:pPr indent="0" marL="0">
              <a:buNone/>
            </a:pPr>
            <a:r>
              <a:rPr lang="en-US" sz="1400" b="1" dirty="0">
                <a:solidFill>
                  <a:schemeClr val="accent1"/>
                </a:solidFill>
              </a:rPr>
              <a:t>Evidence check · class size</a:t>
            </a:r>
            <a:endParaRPr lang="en-US" sz="1400" dirty="0"/>
          </a:p>
        </p:txBody>
      </p:sp>
      <p:sp>
        <p:nvSpPr>
          <p:cNvPr id="14" name="Answer text 3"/>
          <p:cNvSpPr txBox="1"/>
          <p:nvPr/>
        </p:nvSpPr>
        <p:spPr>
          <a:xfrm>
            <a:off x="7863840" y="5184648"/>
            <a:ext cx="3593592" cy="777240"/>
          </a:xfrm>
          <a:prstGeom prst="rect">
            <a:avLst/>
          </a:prstGeom>
          <a:noFill/>
          <a:ln/>
        </p:spPr>
        <p:txBody>
          <a:bodyPr wrap="square" lIns="0" tIns="0" rIns="0" bIns="0" rtlCol="0" anchor="t"/>
          <a:lstStyle/>
          <a:p>
            <a:pPr indent="0" marL="0">
              <a:buNone/>
            </a:pPr>
            <a:r>
              <a:rPr lang="en-US" sz="1400" dirty="0">
                <a:solidFill>
                  <a:schemeClr val="tx1"/>
                </a:solidFill>
              </a:rPr>
              <a:t>Only a weak link to graduation (r = −0.11, 1,323 regular high schools), so smaller classes alone won't move outcomes</a:t>
            </a:r>
            <a:endParaRPr lang="en-US" sz="14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200" b="1" dirty="0">
                <a:solidFill>
                  <a:schemeClr val="tx1"/>
                </a:solidFill>
              </a:rPr>
              <a:t>Where each step lives in the code</a:t>
            </a:r>
            <a:endParaRPr lang="en-US" sz="3200" dirty="0"/>
          </a:p>
        </p:txBody>
      </p:sp>
      <p:graphicFrame>
        <p:nvGraphicFramePr>
          <p:cNvPr id="5" name="Code map table"/>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502920"/>
                <a:gridCol w="1097280"/>
                <a:gridCol w="1737360"/>
                <a:gridCol w="2743200"/>
                <a:gridCol w="5010912"/>
              </a:tblGrid>
              <a:tr h="457200">
                <a:tc>
                  <a:txBody>
                    <a:bodyPr/>
                    <a:lstStyle/>
                    <a:p>
                      <a:pPr indent="0" marL="0">
                        <a:buNone/>
                      </a:pPr>
                      <a:r>
                        <a:rPr lang="en-US" sz="1400" b="1" dirty="0">
                          <a:solidFill>
                            <a:schemeClr val="bg1"/>
                          </a:solidFill>
                        </a:rPr>
                        <a:t>#</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Step</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Project</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File</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Class / function</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r>
              <a:tr h="640080">
                <a:tc>
                  <a:txBody>
                    <a:bodyPr/>
                    <a:lstStyle/>
                    <a:p>
                      <a:pPr algn="ctr" indent="0" marL="0">
                        <a:buNone/>
                      </a:pPr>
                      <a:r>
                        <a:rPr lang="en-US" sz="1600" b="1" dirty="0">
                          <a:solidFill>
                            <a:schemeClr val="bg1"/>
                          </a:solidFill>
                        </a:rPr>
                        <a:t>1</a:t>
                      </a:r>
                      <a:endParaRPr lang="en-US" sz="16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accent1"/>
                    </a:solidFill>
                  </a:tcPr>
                </a:tc>
                <a:tc>
                  <a:txBody>
                    <a:bodyPr/>
                    <a:lstStyle/>
                    <a:p>
                      <a:pPr indent="0" marL="0">
                        <a:buNone/>
                      </a:pPr>
                      <a:r>
                        <a:rPr lang="en-US" sz="1400" dirty="0">
                          <a:solidFill>
                            <a:schemeClr val="tx1"/>
                          </a:solidFill>
                        </a:rPr>
                        <a:t>Speak</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b="1" dirty="0">
                          <a:solidFill>
                            <a:schemeClr val="accent3"/>
                          </a:solidFill>
                        </a:rPr>
                        <a:t>Voice</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rPr>
                        <a:t>GroqVoice.jsx</a:t>
                      </a:r>
                      <a:endParaRPr lang="en-US" sz="1400" dirty="0"/>
                    </a:p>
                    <a:p>
                      <a:pPr indent="0" marL="0">
                        <a:buNone/>
                      </a:pPr>
                      <a:r>
                        <a:rPr lang="en-US" sz="1400" dirty="0">
                          <a:solidFill>
                            <a:schemeClr val="tx1"/>
                          </a:solidFill>
                        </a:rPr>
                        <a:t>main.py</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startRecording(), stopRecording()</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groq_transcribe()  /api/groq/transcribe</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640080">
                <a:tc>
                  <a:txBody>
                    <a:bodyPr/>
                    <a:lstStyle/>
                    <a:p>
                      <a:pPr algn="ctr" indent="0" marL="0">
                        <a:buNone/>
                      </a:pPr>
                      <a:r>
                        <a:rPr lang="en-US" sz="1600" b="1" dirty="0">
                          <a:solidFill>
                            <a:schemeClr val="bg1"/>
                          </a:solidFill>
                        </a:rPr>
                        <a:t>2</a:t>
                      </a:r>
                      <a:endParaRPr lang="en-US" sz="16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accent1"/>
                    </a:solidFill>
                  </a:tcPr>
                </a:tc>
                <a:tc>
                  <a:txBody>
                    <a:bodyPr/>
                    <a:lstStyle/>
                    <a:p>
                      <a:pPr indent="0" marL="0">
                        <a:buNone/>
                      </a:pPr>
                      <a:r>
                        <a:rPr lang="en-US" sz="1400" dirty="0">
                          <a:solidFill>
                            <a:schemeClr val="tx1"/>
                          </a:solidFill>
                        </a:rPr>
                        <a:t>Route</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b="1" dirty="0">
                          <a:solidFill>
                            <a:schemeClr val="accent3"/>
                          </a:solidFill>
                        </a:rPr>
                        <a:t>Voice</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rPr>
                        <a:t>main.py</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groq_chat()  /api/groq/chat</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TOOL_HANDLERS, ASK_SCHOOL_AGENT_TOOL</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777240">
                <a:tc>
                  <a:txBody>
                    <a:bodyPr/>
                    <a:lstStyle/>
                    <a:p>
                      <a:pPr algn="ctr" indent="0" marL="0">
                        <a:buNone/>
                      </a:pPr>
                      <a:r>
                        <a:rPr lang="en-US" sz="1600" b="1" dirty="0">
                          <a:solidFill>
                            <a:schemeClr val="bg1"/>
                          </a:solidFill>
                        </a:rPr>
                        <a:t>3</a:t>
                      </a:r>
                      <a:endParaRPr lang="en-US" sz="16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accent1"/>
                    </a:solidFill>
                  </a:tcPr>
                </a:tc>
                <a:tc>
                  <a:txBody>
                    <a:bodyPr/>
                    <a:lstStyle/>
                    <a:p>
                      <a:pPr indent="0" marL="0">
                        <a:buNone/>
                      </a:pPr>
                      <a:r>
                        <a:rPr lang="en-US" sz="1400" dirty="0">
                          <a:solidFill>
                            <a:schemeClr val="tx1"/>
                          </a:solidFill>
                        </a:rPr>
                        <a:t>Delegate</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b="1" dirty="0">
                          <a:solidFill>
                            <a:schemeClr val="accent1"/>
                          </a:solidFill>
                        </a:rPr>
                        <a:t>Voice → Capstone</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rPr>
                        <a:t>school_agent.py</a:t>
                      </a:r>
                      <a:endParaRPr lang="en-US" sz="1400" dirty="0"/>
                    </a:p>
                    <a:p>
                      <a:pPr indent="0" marL="0">
                        <a:buNone/>
                      </a:pPr>
                      <a:r>
                        <a:rPr lang="en-US" sz="1400" dirty="0">
                          <a:solidFill>
                            <a:schemeClr val="tx1"/>
                          </a:solidFill>
                        </a:rPr>
                        <a:t>registry.py (both projects)</a:t>
                      </a:r>
                      <a:endParaRPr lang="en-US" sz="1400" dirty="0"/>
                    </a:p>
                    <a:p>
                      <a:pPr indent="0" marL="0">
                        <a:buNone/>
                      </a:pPr>
                      <a:r>
                        <a:rPr lang="en-US" sz="1400" dirty="0">
                          <a:solidFill>
                            <a:schemeClr val="tx1"/>
                          </a:solidFill>
                        </a:rPr>
                        <a:t>root_a2a_server.py</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discover_card_url() → registry :8003</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RemoteA2aAgent(agent_card=card_url)</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to_a2a(root_agent, 8002, lifespan=…)</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640080">
                <a:tc>
                  <a:txBody>
                    <a:bodyPr/>
                    <a:lstStyle/>
                    <a:p>
                      <a:pPr algn="ctr" indent="0" marL="0">
                        <a:buNone/>
                      </a:pPr>
                      <a:r>
                        <a:rPr lang="en-US" sz="1600" b="1" dirty="0">
                          <a:solidFill>
                            <a:schemeClr val="bg1"/>
                          </a:solidFill>
                        </a:rPr>
                        <a:t>4</a:t>
                      </a:r>
                      <a:endParaRPr lang="en-US" sz="16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accent1"/>
                    </a:solidFill>
                  </a:tcPr>
                </a:tc>
                <a:tc>
                  <a:txBody>
                    <a:bodyPr/>
                    <a:lstStyle/>
                    <a:p>
                      <a:pPr indent="0" marL="0">
                        <a:buNone/>
                      </a:pPr>
                      <a:r>
                        <a:rPr lang="en-US" sz="1400" dirty="0">
                          <a:solidFill>
                            <a:schemeClr val="tx1"/>
                          </a:solidFill>
                        </a:rPr>
                        <a:t>Query</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b="1" dirty="0">
                          <a:solidFill>
                            <a:schemeClr val="accent1"/>
                          </a:solidFill>
                        </a:rPr>
                        <a:t>Capstone</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rPr>
                        <a:t>agent.py</a:t>
                      </a:r>
                      <a:endParaRPr lang="en-US" sz="1400" dirty="0"/>
                    </a:p>
                    <a:p>
                      <a:pPr indent="0" marL="0">
                        <a:buNone/>
                      </a:pPr>
                      <a:r>
                        <a:rPr lang="en-US" sz="1400" dirty="0">
                          <a:solidFill>
                            <a:schemeClr val="tx1"/>
                          </a:solidFill>
                        </a:rPr>
                        <a:t>mcp_server/schools_mcp.py</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data_agent → McpToolset (stdio)</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MCP run_sql() → db.query()</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731520">
                <a:tc>
                  <a:txBody>
                    <a:bodyPr/>
                    <a:lstStyle/>
                    <a:p>
                      <a:pPr algn="ctr" indent="0" marL="0">
                        <a:buNone/>
                      </a:pPr>
                      <a:r>
                        <a:rPr lang="en-US" sz="1600" b="1" dirty="0">
                          <a:solidFill>
                            <a:schemeClr val="bg1"/>
                          </a:solidFill>
                        </a:rPr>
                        <a:t>5</a:t>
                      </a:r>
                      <a:endParaRPr lang="en-US" sz="16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accent1"/>
                    </a:solidFill>
                  </a:tcPr>
                </a:tc>
                <a:tc>
                  <a:txBody>
                    <a:bodyPr/>
                    <a:lstStyle/>
                    <a:p>
                      <a:pPr indent="0" marL="0">
                        <a:buNone/>
                      </a:pPr>
                      <a:r>
                        <a:rPr lang="en-US" sz="1400" dirty="0">
                          <a:solidFill>
                            <a:schemeClr val="tx1"/>
                          </a:solidFill>
                        </a:rPr>
                        <a:t>Explain</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b="1" dirty="0">
                          <a:solidFill>
                            <a:schemeClr val="accent1"/>
                          </a:solidFill>
                        </a:rPr>
                        <a:t>Capstone</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rPr>
                        <a:t>agent.py, a2a_server.py</a:t>
                      </a:r>
                      <a:endParaRPr lang="en-US" sz="1400" dirty="0"/>
                    </a:p>
                    <a:p>
                      <a:pPr indent="0" marL="0">
                        <a:buNone/>
                      </a:pPr>
                      <a:r>
                        <a:rPr lang="en-US" sz="1400" dirty="0">
                          <a:solidFill>
                            <a:schemeClr val="tx1"/>
                          </a:solidFill>
                        </a:rPr>
                        <a:t>insights.py</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insights_agent (RemoteA2aAgent)</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to_a2a(insights_agent, 8001)</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evidence_check()</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r h="640080">
                <a:tc>
                  <a:txBody>
                    <a:bodyPr/>
                    <a:lstStyle/>
                    <a:p>
                      <a:pPr algn="ctr" indent="0" marL="0">
                        <a:buNone/>
                      </a:pPr>
                      <a:r>
                        <a:rPr lang="en-US" sz="1600" b="1" dirty="0">
                          <a:solidFill>
                            <a:schemeClr val="bg1"/>
                          </a:solidFill>
                        </a:rPr>
                        <a:t>6</a:t>
                      </a:r>
                      <a:endParaRPr lang="en-US" sz="16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accent1"/>
                    </a:solidFill>
                  </a:tcPr>
                </a:tc>
                <a:tc>
                  <a:txBody>
                    <a:bodyPr/>
                    <a:lstStyle/>
                    <a:p>
                      <a:pPr indent="0" marL="0">
                        <a:buNone/>
                      </a:pPr>
                      <a:r>
                        <a:rPr lang="en-US" sz="1400" dirty="0">
                          <a:solidFill>
                            <a:schemeClr val="tx1"/>
                          </a:solidFill>
                        </a:rPr>
                        <a:t>Answer</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b="1" dirty="0">
                          <a:solidFill>
                            <a:schemeClr val="accent3"/>
                          </a:solidFill>
                        </a:rPr>
                        <a:t>Voice</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rPr>
                        <a:t>main.py</a:t>
                      </a:r>
                      <a:endParaRPr lang="en-US" sz="1400" dirty="0"/>
                    </a:p>
                    <a:p>
                      <a:pPr indent="0" marL="0">
                        <a:buNone/>
                      </a:pPr>
                      <a:r>
                        <a:rPr lang="en-US" sz="1400" dirty="0">
                          <a:solidFill>
                            <a:schemeClr val="tx1"/>
                          </a:solidFill>
                        </a:rPr>
                        <a:t>GroqVoice.jsx, Transcript.jsx</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groq_speak()  /api/groq/speak</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respond(), speak(), &lt;Transcript&gt;</a:t>
                      </a:r>
                      <a:endParaRPr lang="en-US" sz="14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r>
            </a:tbl>
          </a:graphicData>
        </a:graphic>
      </p:graphicFrame>
      <p:sp>
        <p:nvSpPr>
          <p:cNvPr id="4" name="Path legend"/>
          <p:cNvSpPr txBox="1"/>
          <p:nvPr/>
        </p:nvSpPr>
        <p:spPr>
          <a:xfrm>
            <a:off x="548640" y="6035040"/>
            <a:ext cx="11091672" cy="274320"/>
          </a:xfrm>
          <a:prstGeom prst="rect">
            <a:avLst/>
          </a:prstGeom>
          <a:noFill/>
          <a:ln/>
        </p:spPr>
        <p:txBody>
          <a:bodyPr wrap="square" lIns="0" tIns="0" rIns="0" bIns="0" rtlCol="0" anchor="ctr"/>
          <a:lstStyle/>
          <a:p>
            <a:pPr indent="0" marL="0">
              <a:buNone/>
            </a:pPr>
            <a:r>
              <a:rPr lang="en-US" sz="1200" b="1" dirty="0">
                <a:solidFill>
                  <a:schemeClr val="accent3"/>
                </a:solidFill>
              </a:rPr>
              <a:t>Voice</a:t>
            </a:r>
            <a:pPr indent="0" marL="0">
              <a:buNone/>
            </a:pPr>
            <a:r>
              <a:rPr lang="en-US" sz="1200" dirty="0">
                <a:solidFill>
                  <a:schemeClr val="tx2"/>
                </a:solidFill>
              </a:rPr>
              <a:t> = voice-agent-adk-a2a/backend, /frontend/src, /registry     </a:t>
            </a:r>
            <a:pPr indent="0" marL="0">
              <a:buNone/>
            </a:pPr>
            <a:r>
              <a:rPr lang="en-US" sz="1200" b="1" dirty="0">
                <a:solidFill>
                  <a:schemeClr val="accent1"/>
                </a:solidFill>
              </a:rPr>
              <a:t>Capstone</a:t>
            </a:r>
            <a:pPr indent="0" marL="0">
              <a:buNone/>
            </a:pPr>
            <a:r>
              <a:rPr lang="en-US" sz="1200" dirty="0">
                <a:solidFill>
                  <a:schemeClr val="tx2"/>
                </a:solidFill>
              </a:rPr>
              <a:t> = adk-a2a-mcp-education-capstone/agents/education_agent, /mcp_server</a:t>
            </a:r>
            <a:endParaRPr lang="en-US" sz="1200" dirty="0"/>
          </a:p>
        </p:txBody>
      </p:sp>
      <p:sp>
        <p:nvSpPr>
          <p:cNvPr id="25" name="Slide Number Placeholder 0"/>
          <p:cNvSpPr>
            <a:spLocks noGrp="1"/>
          </p:cNvSpPr>
          <p:nvPr>
            <p:ph type="sldNum" sz="quarter" idx="4294967295"/>
          </p:nvPr>
        </p:nvSpPr>
        <p:spPr>
          <a:xfrm>
            <a:off x="11274552"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Education Insights">
  <a:themeElements>
    <a:clrScheme name="Education Insights">
      <a:dk1>
        <a:srgbClr val="1E1B4B"/>
      </a:dk1>
      <a:lt1>
        <a:srgbClr val="FFFFFF"/>
      </a:lt1>
      <a:dk2>
        <a:srgbClr val="475569"/>
      </a:dk2>
      <a:lt2>
        <a:srgbClr val="F5F3FF"/>
      </a:lt2>
      <a:accent1>
        <a:srgbClr val="7C3AED"/>
      </a:accent1>
      <a:accent2>
        <a:srgbClr val="F59E0B"/>
      </a:accent2>
      <a:accent3>
        <a:srgbClr val="0284C7"/>
      </a:accent3>
      <a:accent4>
        <a:srgbClr val="16A34A"/>
      </a:accent4>
      <a:accent5>
        <a:srgbClr val="94A3B8"/>
      </a:accent5>
      <a:accent6>
        <a:srgbClr val="0D9488"/>
      </a:accent6>
      <a:hlink>
        <a:srgbClr val="7C3AED"/>
      </a:hlink>
      <a:folHlink>
        <a:srgbClr val="5B21B6"/>
      </a:folHlink>
    </a:clrScheme>
    <a:fontScheme name="Education Insight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Education Insights &amp; Resource Recommender</dc:title>
  <dc:subject>PptxGenJS Presentation</dc:subject>
  <dc:creator>Tarini Pattanaik</dc:creator>
  <cp:lastModifiedBy>Tarini Pattanaik</cp:lastModifiedBy>
  <cp:revision>1</cp:revision>
  <dcterms:created xsi:type="dcterms:W3CDTF">2026-10-25T18:35:26Z</dcterms:created>
  <dcterms:modified xsi:type="dcterms:W3CDTF">2026-10-25T18:35:26Z</dcterms:modified>
</cp:coreProperties>
</file>